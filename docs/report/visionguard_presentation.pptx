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f1e80d2dfe24518" /><Relationship Type="http://schemas.openxmlformats.org/officeDocument/2006/relationships/extended-properties" Target="/docProps/app.xml" Id="R50065b2e7b394a6c" /><Relationship Type="http://schemas.openxmlformats.org/officeDocument/2006/relationships/officeDocument" Target="/ppt/presentation.xml" Id="R0165f110fa4e4d1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08302ca32454eda"/>
  </p:sldMasterIdLst>
  <p:notesMasterIdLst>
    <p:notesMasterId xmlns:r="http://schemas.openxmlformats.org/officeDocument/2006/relationships" r:id="Rd3756e6e46ca4b49"/>
  </p:notesMasterIdLst>
  <p:sldIdLst>
    <p:sldId xmlns:r="http://schemas.openxmlformats.org/officeDocument/2006/relationships" id="256" r:id="R16789ae132fd41f6"/>
    <p:sldId xmlns:r="http://schemas.openxmlformats.org/officeDocument/2006/relationships" id="257" r:id="R7c40d8fa68e54c8b"/>
    <p:sldId xmlns:r="http://schemas.openxmlformats.org/officeDocument/2006/relationships" id="258" r:id="Re2c60e5a0ce94aff"/>
    <p:sldId xmlns:r="http://schemas.openxmlformats.org/officeDocument/2006/relationships" id="259" r:id="Recd290c4452244c3"/>
    <p:sldId xmlns:r="http://schemas.openxmlformats.org/officeDocument/2006/relationships" id="260" r:id="R4b402a256d2e47c1"/>
    <p:sldId xmlns:r="http://schemas.openxmlformats.org/officeDocument/2006/relationships" id="261" r:id="Rd7f8f2df09614781"/>
    <p:sldId xmlns:r="http://schemas.openxmlformats.org/officeDocument/2006/relationships" id="262" r:id="Rc88fca360c234070"/>
    <p:sldId xmlns:r="http://schemas.openxmlformats.org/officeDocument/2006/relationships" id="263" r:id="Rad9c56a12ab640dd"/>
    <p:sldId xmlns:r="http://schemas.openxmlformats.org/officeDocument/2006/relationships" id="264" r:id="Rfffea6928606490a"/>
    <p:sldId xmlns:r="http://schemas.openxmlformats.org/officeDocument/2006/relationships" id="265" r:id="Rfef900ebc797425a"/>
    <p:sldId xmlns:r="http://schemas.openxmlformats.org/officeDocument/2006/relationships" id="266" r:id="Re648e3c019974b94"/>
    <p:sldId xmlns:r="http://schemas.openxmlformats.org/officeDocument/2006/relationships" id="267" r:id="R192d03551da5449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47051e698844720" /><Relationship Type="http://schemas.openxmlformats.org/officeDocument/2006/relationships/slideMaster" Target="/ppt/slideMasters/slideMaster1.xml" Id="Rf08302ca32454eda" /><Relationship Type="http://schemas.openxmlformats.org/officeDocument/2006/relationships/notesMaster" Target="/ppt/notesMasters/notesMaster1.xml" Id="Rd3756e6e46ca4b49" /><Relationship Type="http://schemas.openxmlformats.org/officeDocument/2006/relationships/presProps" Target="/ppt/presProps.xml" Id="R98872c24d8ee4e61" /><Relationship Type="http://schemas.openxmlformats.org/officeDocument/2006/relationships/tableStyles" Target="/ppt/tableStyles.xml" Id="Rd7edfcd2fe444bbe" /><Relationship Type="http://schemas.openxmlformats.org/officeDocument/2006/relationships/slide" Target="/ppt/slides/slide1.xml" Id="R16789ae132fd41f6" /><Relationship Type="http://schemas.openxmlformats.org/officeDocument/2006/relationships/slide" Target="/ppt/slides/slide2.xml" Id="R7c40d8fa68e54c8b" /><Relationship Type="http://schemas.openxmlformats.org/officeDocument/2006/relationships/slide" Target="/ppt/slides/slide3.xml" Id="Re2c60e5a0ce94aff" /><Relationship Type="http://schemas.openxmlformats.org/officeDocument/2006/relationships/slide" Target="/ppt/slides/slide4.xml" Id="Recd290c4452244c3" /><Relationship Type="http://schemas.openxmlformats.org/officeDocument/2006/relationships/slide" Target="/ppt/slides/slide5.xml" Id="R4b402a256d2e47c1" /><Relationship Type="http://schemas.openxmlformats.org/officeDocument/2006/relationships/slide" Target="/ppt/slides/slide6.xml" Id="Rd7f8f2df09614781" /><Relationship Type="http://schemas.openxmlformats.org/officeDocument/2006/relationships/slide" Target="/ppt/slides/slide7.xml" Id="Rc88fca360c234070" /><Relationship Type="http://schemas.openxmlformats.org/officeDocument/2006/relationships/slide" Target="/ppt/slides/slide8.xml" Id="Rad9c56a12ab640dd" /><Relationship Type="http://schemas.openxmlformats.org/officeDocument/2006/relationships/slide" Target="/ppt/slides/slide9.xml" Id="Rfffea6928606490a" /><Relationship Type="http://schemas.openxmlformats.org/officeDocument/2006/relationships/slide" Target="/ppt/slides/slide10.xml" Id="Rfef900ebc797425a" /><Relationship Type="http://schemas.openxmlformats.org/officeDocument/2006/relationships/slide" Target="/ppt/slides/slide11.xml" Id="Re648e3c019974b94" /><Relationship Type="http://schemas.openxmlformats.org/officeDocument/2006/relationships/slide" Target="/ppt/slides/slide12.xml" Id="R192d03551da5449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55ae5a2e34a473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4af60377cfa42a4" /><Relationship Type="http://schemas.openxmlformats.org/officeDocument/2006/relationships/notesMaster" Target="/ppt/notesMasters/notesMaster1.xml" Id="Ra1ceebb0dcd64a4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6b87e57cb14751" /><Relationship Type="http://schemas.openxmlformats.org/officeDocument/2006/relationships/notesMaster" Target="/ppt/notesMasters/notesMaster1.xml" Id="Rd2dc4f16b88142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427007b7a854443" /><Relationship Type="http://schemas.openxmlformats.org/officeDocument/2006/relationships/notesMaster" Target="/ppt/notesMasters/notesMaster1.xml" Id="R17eac526ecd24e0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31c8e58fc654d80" /><Relationship Type="http://schemas.openxmlformats.org/officeDocument/2006/relationships/notesMaster" Target="/ppt/notesMasters/notesMaster1.xml" Id="Re5d41fa5a1e54d3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810d3509a30428a" /><Relationship Type="http://schemas.openxmlformats.org/officeDocument/2006/relationships/notesMaster" Target="/ppt/notesMasters/notesMaster1.xml" Id="Rc63aecf108094e2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ce6b7493394422" /><Relationship Type="http://schemas.openxmlformats.org/officeDocument/2006/relationships/notesMaster" Target="/ppt/notesMasters/notesMaster1.xml" Id="Rf1f6a061e9e949e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16f33c792554bad" /><Relationship Type="http://schemas.openxmlformats.org/officeDocument/2006/relationships/notesMaster" Target="/ppt/notesMasters/notesMaster1.xml" Id="Rec68fd524c5e459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db3db96a4f04840" /><Relationship Type="http://schemas.openxmlformats.org/officeDocument/2006/relationships/notesMaster" Target="/ppt/notesMasters/notesMaster1.xml" Id="Rd4d4c8d2236c4fc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cff9b00779b4d46" /><Relationship Type="http://schemas.openxmlformats.org/officeDocument/2006/relationships/notesMaster" Target="/ppt/notesMasters/notesMaster1.xml" Id="R8c43d832221a419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607d043fc114d6a" /><Relationship Type="http://schemas.openxmlformats.org/officeDocument/2006/relationships/notesMaster" Target="/ppt/notesMasters/notesMaster1.xml" Id="R67e6c104e54c447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791569c0a2c4adf" /><Relationship Type="http://schemas.openxmlformats.org/officeDocument/2006/relationships/notesMaster" Target="/ppt/notesMasters/notesMaster1.xml" Id="Rf6d5e482fe354e5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f2484c46caf417b" /><Relationship Type="http://schemas.openxmlformats.org/officeDocument/2006/relationships/notesMaster" Target="/ppt/notesMasters/notesMaster1.xml" Id="R810f57b285a943a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report source: docs/report/visionguard_report.tex</a:t>
            </a:r>
          </a:p>
          <a:p xmlns:a="http://schemas.openxmlformats.org/drawingml/2006/main">
            <a:r>
              <a:t>- Screenshot: docs/report/figures/visionguard-monitor.png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report sections: Introduction and Background in docs/report/visionguard_report.tex</a:t>
            </a:r>
          </a:p>
          <a:p xmlns:a="http://schemas.openxmlformats.org/drawingml/2006/main">
            <a:r>
              <a:t>- Repository README: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objectives summarized from docs/report/visionguard_report.tex</a:t>
            </a:r>
          </a:p>
          <a:p xmlns:a="http://schemas.openxmlformats.org/drawingml/2006/main">
            <a:r>
              <a:t>- Repository README demo flow: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Desktop app source: apps/desktop/src/renderer/app/App.tsx</a:t>
            </a:r>
          </a:p>
          <a:p xmlns:a="http://schemas.openxmlformats.org/drawingml/2006/main">
            <a:r>
              <a:t>- Shared contract source: packages/shared-kernel/src/contracts/ai/model-contract.ts</a:t>
            </a:r>
          </a:p>
          <a:p xmlns:a="http://schemas.openxmlformats.org/drawingml/2006/main">
            <a:r>
              <a:t>- AI service source: services/ai-models/src/interfaces/api/state.py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Docker/container content summarized from docs/report/visionguard_report.tex</a:t>
            </a:r>
          </a:p>
          <a:p xmlns:a="http://schemas.openxmlformats.org/drawingml/2006/main">
            <a:r>
              <a:t>- AI service architecture summarized from docs/report/visionguard_report.tex and packages/shared-kernel/src/contracts/ai/model-contract.ts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Inference and cooldown logic: apps/desktop/src/renderer/app/App.tsx</a:t>
            </a:r>
          </a:p>
          <a:p xmlns:a="http://schemas.openxmlformats.org/drawingml/2006/main">
            <a:r>
              <a:t>- Hand presence logic: services/ai-models/src/application/training/gesture_training_worker.py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Screenshot: docs/report/figures/visionguard-monitor.png</a:t>
            </a:r>
          </a:p>
          <a:p xmlns:a="http://schemas.openxmlformats.org/drawingml/2006/main">
            <a:r>
              <a:t>- Live monitor component: apps/desktop/src/renderer/app/components/LiveVisionPanel.tsx</a:t>
            </a:r>
          </a:p>
          <a:p xmlns:a="http://schemas.openxmlformats.org/drawingml/2006/main">
            <a:r>
              <a:t>- Model health and event timeline rendered from apps/desktop/src/renderer/app/App.tsx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Screenshot: docs/report/figures/visionguard-gestures.png</a:t>
            </a:r>
          </a:p>
          <a:p xmlns:a="http://schemas.openxmlformats.org/drawingml/2006/main">
            <a:r>
              <a:t>- Gesture component: apps/desktop/src/renderer/app/components/GesturesPanel.tsx</a:t>
            </a:r>
          </a:p>
          <a:p xmlns:a="http://schemas.openxmlformats.org/drawingml/2006/main">
            <a:r>
              <a:t>- Desktop action support: apps/desktop/src/main/application/actions/execute-gesture-action.ts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Shared AI model contract: packages/shared-kernel/src/contracts/ai/model-contract.ts</a:t>
            </a:r>
          </a:p>
          <a:p xmlns:a="http://schemas.openxmlformats.org/drawingml/2006/main">
            <a:r>
              <a:t>- FastAPI routes: services/ai-models/src/interfaces/api/routes/inference.py</a:t>
            </a:r>
          </a:p>
          <a:p xmlns:a="http://schemas.openxmlformats.org/drawingml/2006/main">
            <a:r>
              <a:t>- AI service state and training job flow: services/ai-models/src/interfaces/api/state.py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 views: apps/desktop/src/renderer/app/data.ts</a:t>
            </a:r>
          </a:p>
          <a:p xmlns:a="http://schemas.openxmlformats.org/drawingml/2006/main">
            <a:r>
              <a:t>- Action types: apps/desktop/src/main/application/actions/execute-gesture-action.ts</a:t>
            </a:r>
          </a:p>
          <a:p xmlns:a="http://schemas.openxmlformats.org/drawingml/2006/main">
            <a:r>
              <a:t>- Contract operations: packages/shared-kernel/src/contracts/ai/model-contract.ts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Future work summarized from docs/report/visionguard_report.tex</a:t>
            </a:r>
          </a:p>
          <a:p xmlns:a="http://schemas.openxmlformats.org/drawingml/2006/main">
            <a:r>
              <a:t>- Screenshot: docs/report/figures/visionguard-models.png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Evaluation method summarized from docs/report/visionguard_report.tex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53e3369ee049f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ec70831569b46ab" /><Relationship Type="http://schemas.openxmlformats.org/officeDocument/2006/relationships/slideLayout" Target="/ppt/slideLayouts/slideLayout1.xml" Id="R182784f88d7f495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2784f88d7f495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6d6a7559b246ad" /><Relationship Type="http://schemas.openxmlformats.org/officeDocument/2006/relationships/image" Target="/ppt/media/image.png" Id="R54bb7ea30da04947" /><Relationship Type="http://schemas.openxmlformats.org/officeDocument/2006/relationships/notesSlide" Target="/ppt/notesSlides/notesSlide1.xml" Id="R94c5d2a198cc4d5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e008a78abc4ada" /><Relationship Type="http://schemas.openxmlformats.org/officeDocument/2006/relationships/notesSlide" Target="/ppt/notesSlides/notesSlide2.xml" Id="Rcf6cceeaa4dd499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025d6ba4dd4677" /><Relationship Type="http://schemas.openxmlformats.org/officeDocument/2006/relationships/notesSlide" Target="/ppt/notesSlides/notesSlide3.xml" Id="R34cad2593df04f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76e85821334303" /><Relationship Type="http://schemas.openxmlformats.org/officeDocument/2006/relationships/notesSlide" Target="/ppt/notesSlides/notesSlide4.xml" Id="R37ae262fbf9248e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390db70c98483f" /><Relationship Type="http://schemas.openxmlformats.org/officeDocument/2006/relationships/notesSlide" Target="/ppt/notesSlides/notesSlide5.xml" Id="R09c361238e424d1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fcd3c7883648ad" /><Relationship Type="http://schemas.openxmlformats.org/officeDocument/2006/relationships/notesSlide" Target="/ppt/notesSlides/notesSlide6.xml" Id="R2fa6a70a93dc426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fe7cd2f2934311" /><Relationship Type="http://schemas.openxmlformats.org/officeDocument/2006/relationships/image" Target="/ppt/media/image2.png" Id="Rc27fcf76d43a41c0" /><Relationship Type="http://schemas.openxmlformats.org/officeDocument/2006/relationships/notesSlide" Target="/ppt/notesSlides/notesSlide7.xml" Id="Rfaf95578e1e440d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345e73f2f34901" /><Relationship Type="http://schemas.openxmlformats.org/officeDocument/2006/relationships/image" Target="/ppt/media/image3.png" Id="R71b81487acae4524" /><Relationship Type="http://schemas.openxmlformats.org/officeDocument/2006/relationships/notesSlide" Target="/ppt/notesSlides/notesSlide8.xml" Id="R1507d48d6966487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b2265310f64e2a" /><Relationship Type="http://schemas.openxmlformats.org/officeDocument/2006/relationships/notesSlide" Target="/ppt/notesSlides/notesSlide9.xml" Id="Rdad93e6213fc4aa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b94e63fd2744a1" /><Relationship Type="http://schemas.openxmlformats.org/officeDocument/2006/relationships/notesSlide" Target="/ppt/notesSlides/notesSlide10.xml" Id="R18effedbb295426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65432a4615456f" /><Relationship Type="http://schemas.openxmlformats.org/officeDocument/2006/relationships/image" Target="/ppt/media/image4.png" Id="R17152681418c40f7" /><Relationship Type="http://schemas.openxmlformats.org/officeDocument/2006/relationships/notesSlide" Target="/ppt/notesSlides/notesSlide11.xml" Id="R91e3ffab80ce4db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70f361410a4f6a" /><Relationship Type="http://schemas.openxmlformats.org/officeDocument/2006/relationships/notesSlide" Target="/ppt/notesSlides/notesSlide12.xml" Id="R0f8b052fcf3f4a6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0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dark-background">
            <a:extLst xmlns:a="http://schemas.openxmlformats.org/drawingml/2006/main">
              <a:ext uri="{FF2B5EF4-FFF2-40B4-BE49-F238E27FC236}">
                <a16:creationId xmlns:a16="http://schemas.microsoft.com/office/drawing/2014/main" id="{245BF268-11DF-484F-AB8A-DED672673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4"/>
          </a:solidFill>
          <a:ln xmlns:a="http://schemas.openxmlformats.org/drawingml/2006/main" w="0">
            <a:solidFill>
              <a:srgbClr val="071014"/>
            </a:solidFill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EFDA742-8DDF-4AE7-8CD3-EA3EFC90C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"/>
            <a:ext cx="5048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F5FAFC"/>
                </a:solidFill>
              </a:defRPr>
            </a:pPr>
            <a:r>
              <a:rPr sz="4500" b="1">
                <a:solidFill>
                  <a:srgbClr val="F5FAFC"/>
                </a:solidFill>
              </a:rPr>
              <a:t>VisionGuard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C159EFB0-3440-4672-9960-3F41E1B69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A7B3BD"/>
                </a:solidFill>
              </a:defRPr>
            </a:pPr>
            <a:r>
              <a:rPr sz="2100" b="0">
                <a:solidFill>
                  <a:srgbClr val="A7B3BD"/>
                </a:solidFill>
              </a:rPr>
              <a:t>Gesture recognition and continuous user authentication with local computer vision</a:t>
            </a:r>
          </a:p>
        </p:txBody>
      </p:sp>
      <p:sp>
        <p:nvSpPr>
          <p:cNvPr id="4" name="meta">
            <a:extLst xmlns:a="http://schemas.openxmlformats.org/drawingml/2006/main">
              <a:ext uri="{FF2B5EF4-FFF2-40B4-BE49-F238E27FC236}">
                <a16:creationId xmlns:a16="http://schemas.microsoft.com/office/drawing/2014/main" id="{C0E59833-3EFD-458C-866D-A804C76B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2920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7B3BD"/>
                </a:solidFill>
              </a:defRPr>
            </a:pPr>
            <a:r>
              <a:rPr sz="1425" b="0">
                <a:solidFill>
                  <a:srgbClr val="A7B3BD"/>
                </a:solidFill>
              </a:rPr>
              <a:t>Summer Bachelor Semester Project</a:t>
            </a:r>
          </a:p>
          <a:p xmlns:a="http://schemas.openxmlformats.org/drawingml/2006/main">
            <a:pPr algn="l">
              <a:defRPr sz="1425" b="0">
                <a:solidFill>
                  <a:srgbClr val="A7B3BD"/>
                </a:solidFill>
              </a:defRPr>
            </a:pPr>
            <a:r>
              <a:rPr sz="1425" b="0">
                <a:solidFill>
                  <a:srgbClr val="A7B3BD"/>
                </a:solidFill>
              </a:rPr>
              <a:t>University of Luxembourg</a:t>
            </a:r>
          </a:p>
          <a:p xmlns:a="http://schemas.openxmlformats.org/drawingml/2006/main">
            <a:pPr algn="l">
              <a:defRPr sz="1425" b="0">
                <a:solidFill>
                  <a:srgbClr val="A7B3BD"/>
                </a:solidFill>
              </a:defRPr>
            </a:pPr>
            <a:r>
              <a:rPr sz="1425" b="0">
                <a:solidFill>
                  <a:srgbClr val="A7B3BD"/>
                </a:solidFill>
              </a:rPr>
              <a:t>Stefan Penchev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bb7ea30da04947"/>
          <a:srcRect xmlns:a="http://schemas.openxmlformats.org/drawingml/2006/main" l="17615" t="0" r="176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457200"/>
            <a:ext cx="5543550" cy="5943600"/>
          </a:xfrm>
          <a:prstGeom xmlns:a="http://schemas.openxmlformats.org/drawingml/2006/main" prst="roundRect">
            <a:avLst>
              <a:gd name="adj" fmla="val 1375"/>
            </a:avLst>
          </a:prstGeom>
        </p:spPr>
      </p:pic>
      <p:sp>
        <p:nvSpPr>
          <p:cNvPr id="6" name="footer-1">
            <a:extLst xmlns:a="http://schemas.openxmlformats.org/drawingml/2006/main">
              <a:ext uri="{FF2B5EF4-FFF2-40B4-BE49-F238E27FC236}">
                <a16:creationId xmlns:a16="http://schemas.microsoft.com/office/drawing/2014/main" id="{E21DE503-47EE-4123-84A5-1D681C2D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293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7B3BD"/>
                </a:solidFill>
              </a:defRPr>
            </a:pPr>
            <a:r>
              <a:rPr sz="1050" b="0">
                <a:solidFill>
                  <a:srgbClr val="A7B3BD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810407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0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dark-background">
            <a:extLst xmlns:a="http://schemas.openxmlformats.org/drawingml/2006/main">
              <a:ext uri="{FF2B5EF4-FFF2-40B4-BE49-F238E27FC236}">
                <a16:creationId xmlns:a16="http://schemas.microsoft.com/office/drawing/2014/main" id="{0552FA6E-17BF-41E3-97D3-D4927AB4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4"/>
          </a:solidFill>
          <a:ln xmlns:a="http://schemas.openxmlformats.org/drawingml/2006/main" w="0">
            <a:solidFill>
              <a:srgbClr val="071014"/>
            </a:solidFill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56F22B06-0D58-493E-A7F3-2CE5F84D1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7E8F9"/>
                </a:solidFill>
              </a:defRPr>
            </a:pPr>
            <a:r>
              <a:rPr sz="1275" b="1">
                <a:solidFill>
                  <a:srgbClr val="67E8F9"/>
                </a:solidFill>
              </a:rPr>
              <a:t>VISIONGUARD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8BB8687-034F-453A-8316-75862A7D5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9810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AFC"/>
                </a:solidFill>
              </a:defRPr>
            </a:pPr>
            <a:r>
              <a:rPr sz="3150" b="1">
                <a:solidFill>
                  <a:srgbClr val="F5FAFC"/>
                </a:solidFill>
              </a:rPr>
              <a:t>Desktop security needs context after login</a:t>
            </a:r>
          </a:p>
        </p:txBody>
      </p:sp>
      <p:sp>
        <p:nvSpPr>
          <p:cNvPr id="4" name="problem-head-0">
            <a:extLst xmlns:a="http://schemas.openxmlformats.org/drawingml/2006/main">
              <a:ext uri="{FF2B5EF4-FFF2-40B4-BE49-F238E27FC236}">
                <a16:creationId xmlns:a16="http://schemas.microsoft.com/office/drawing/2014/main" id="{731B2AE7-4A48-4D29-A48C-E0F51DE2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526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AFC"/>
                </a:solidFill>
              </a:defRPr>
            </a:pPr>
            <a:r>
              <a:rPr sz="1800" b="1">
                <a:solidFill>
                  <a:srgbClr val="F5FAFC"/>
                </a:solidFill>
              </a:rPr>
              <a:t>One-time checks are limited</a:t>
            </a:r>
          </a:p>
        </p:txBody>
      </p:sp>
      <p:sp>
        <p:nvSpPr>
          <p:cNvPr id="5" name="problem-body-0">
            <a:extLst xmlns:a="http://schemas.openxmlformats.org/drawingml/2006/main">
              <a:ext uri="{FF2B5EF4-FFF2-40B4-BE49-F238E27FC236}">
                <a16:creationId xmlns:a16="http://schemas.microsoft.com/office/drawing/2014/main" id="{897BBDBA-BED6-4B36-AA5E-9B9F8D5B4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765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3BD"/>
                </a:solidFill>
              </a:defRPr>
            </a:pPr>
            <a:r>
              <a:rPr sz="1275" b="0">
                <a:solidFill>
                  <a:srgbClr val="A7B3BD"/>
                </a:solidFill>
              </a:rPr>
              <a:t>Traditional login verifies a moment, not the full session.</a:t>
            </a:r>
          </a:p>
        </p:txBody>
      </p:sp>
      <p:sp>
        <p:nvSpPr>
          <p:cNvPr id="6" name="problem-head-1">
            <a:extLst xmlns:a="http://schemas.openxmlformats.org/drawingml/2006/main">
              <a:ext uri="{FF2B5EF4-FFF2-40B4-BE49-F238E27FC236}">
                <a16:creationId xmlns:a16="http://schemas.microsoft.com/office/drawing/2014/main" id="{B578BE8D-6A33-4891-9A2A-870E558A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670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AFC"/>
                </a:solidFill>
              </a:defRPr>
            </a:pPr>
            <a:r>
              <a:rPr sz="1800" b="1">
                <a:solidFill>
                  <a:srgbClr val="F5FAFC"/>
                </a:solidFill>
              </a:rPr>
              <a:t>Hands-free control is useful</a:t>
            </a:r>
          </a:p>
        </p:txBody>
      </p:sp>
      <p:sp>
        <p:nvSpPr>
          <p:cNvPr id="7" name="problem-body-1">
            <a:extLst xmlns:a="http://schemas.openxmlformats.org/drawingml/2006/main">
              <a:ext uri="{FF2B5EF4-FFF2-40B4-BE49-F238E27FC236}">
                <a16:creationId xmlns:a16="http://schemas.microsoft.com/office/drawing/2014/main" id="{6729743F-E929-4DBB-B69A-C53971C71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909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3BD"/>
                </a:solidFill>
              </a:defRPr>
            </a:pPr>
            <a:r>
              <a:rPr sz="1275" b="0">
                <a:solidFill>
                  <a:srgbClr val="A7B3BD"/>
                </a:solidFill>
              </a:rPr>
              <a:t>Repeated desktop actions can be faster through reliable gestures.</a:t>
            </a:r>
          </a:p>
        </p:txBody>
      </p:sp>
      <p:sp>
        <p:nvSpPr>
          <p:cNvPr id="8" name="problem-head-2">
            <a:extLst xmlns:a="http://schemas.openxmlformats.org/drawingml/2006/main">
              <a:ext uri="{FF2B5EF4-FFF2-40B4-BE49-F238E27FC236}">
                <a16:creationId xmlns:a16="http://schemas.microsoft.com/office/drawing/2014/main" id="{368518E2-4930-4444-AFDE-9DF6A1CB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814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AFC"/>
                </a:solidFill>
              </a:defRPr>
            </a:pPr>
            <a:r>
              <a:rPr sz="1800" b="1">
                <a:solidFill>
                  <a:srgbClr val="F5FAFC"/>
                </a:solidFill>
              </a:rPr>
              <a:t>Camera input is sensitive</a:t>
            </a:r>
          </a:p>
        </p:txBody>
      </p:sp>
      <p:sp>
        <p:nvSpPr>
          <p:cNvPr id="9" name="problem-body-2">
            <a:extLst xmlns:a="http://schemas.openxmlformats.org/drawingml/2006/main">
              <a:ext uri="{FF2B5EF4-FFF2-40B4-BE49-F238E27FC236}">
                <a16:creationId xmlns:a16="http://schemas.microsoft.com/office/drawing/2014/main" id="{EC2E2211-91B3-4D3A-A7EA-BB5BE33B3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053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3BD"/>
                </a:solidFill>
              </a:defRPr>
            </a:pPr>
            <a:r>
              <a:rPr sz="1275" b="0">
                <a:solidFill>
                  <a:srgbClr val="A7B3BD"/>
                </a:solidFill>
              </a:rPr>
              <a:t>A practical system should process frames locally and expose clear state.</a:t>
            </a:r>
          </a:p>
        </p:txBody>
      </p:sp>
      <p:sp>
        <p:nvSpPr>
          <p:cNvPr id="10" name="problem-callout">
            <a:extLst xmlns:a="http://schemas.openxmlformats.org/drawingml/2006/main">
              <a:ext uri="{FF2B5EF4-FFF2-40B4-BE49-F238E27FC236}">
                <a16:creationId xmlns:a16="http://schemas.microsoft.com/office/drawing/2014/main" id="{6CCA13B3-FD63-4699-92FA-4EB9A8383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24050"/>
            <a:ext cx="49530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0B2F3A"/>
          </a:solidFill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11" name="problem-callout-title">
            <a:extLst xmlns:a="http://schemas.openxmlformats.org/drawingml/2006/main">
              <a:ext uri="{FF2B5EF4-FFF2-40B4-BE49-F238E27FC236}">
                <a16:creationId xmlns:a16="http://schemas.microsoft.com/office/drawing/2014/main" id="{0E398174-1551-4F97-BC5F-5FF42EC89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00300"/>
            <a:ext cx="4095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5FAFC"/>
                </a:solidFill>
              </a:defRPr>
            </a:pPr>
            <a:r>
              <a:rPr sz="2400" b="1">
                <a:solidFill>
                  <a:srgbClr val="F5FAFC"/>
                </a:solidFill>
              </a:rPr>
              <a:t>Project question</a:t>
            </a:r>
          </a:p>
        </p:txBody>
      </p:sp>
      <p:sp>
        <p:nvSpPr>
          <p:cNvPr id="12" name="problem-callout-body">
            <a:extLst xmlns:a="http://schemas.openxmlformats.org/drawingml/2006/main">
              <a:ext uri="{FF2B5EF4-FFF2-40B4-BE49-F238E27FC236}">
                <a16:creationId xmlns:a16="http://schemas.microsoft.com/office/drawing/2014/main" id="{56BA6E16-C4B8-4B9A-A804-A440CD66E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05150"/>
            <a:ext cx="4000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F5FAFC"/>
                </a:solidFill>
              </a:defRPr>
            </a:pPr>
            <a:r>
              <a:rPr sz="1875" b="0">
                <a:solidFill>
                  <a:srgbClr val="F5FAFC"/>
                </a:solidFill>
              </a:rPr>
              <a:t>Can a local desktop app connect camera monitoring, gesture training, live inference, and action execution in one understandable workflow?</a:t>
            </a:r>
          </a:p>
        </p:txBody>
      </p:sp>
      <p:sp>
        <p:nvSpPr>
          <p:cNvPr id="13" name="footer-2">
            <a:extLst xmlns:a="http://schemas.openxmlformats.org/drawingml/2006/main">
              <a:ext uri="{FF2B5EF4-FFF2-40B4-BE49-F238E27FC236}">
                <a16:creationId xmlns:a16="http://schemas.microsoft.com/office/drawing/2014/main" id="{E901FFC7-CE71-42EF-B825-97022FB68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293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7B3BD"/>
                </a:solidFill>
              </a:defRPr>
            </a:pPr>
            <a:r>
              <a:rPr sz="1050" b="0">
                <a:solidFill>
                  <a:srgbClr val="A7B3BD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265661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0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dark-background">
            <a:extLst xmlns:a="http://schemas.openxmlformats.org/drawingml/2006/main">
              <a:ext uri="{FF2B5EF4-FFF2-40B4-BE49-F238E27FC236}">
                <a16:creationId xmlns:a16="http://schemas.microsoft.com/office/drawing/2014/main" id="{D6D00EEF-B6F2-45CC-B170-C897686EE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4"/>
          </a:solidFill>
          <a:ln xmlns:a="http://schemas.openxmlformats.org/drawingml/2006/main" w="0">
            <a:solidFill>
              <a:srgbClr val="071014"/>
            </a:solidFill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FBCE8595-05FF-4174-8408-955E22B3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7E8F9"/>
                </a:solidFill>
              </a:defRPr>
            </a:pPr>
            <a:r>
              <a:rPr sz="1275" b="1">
                <a:solidFill>
                  <a:srgbClr val="67E8F9"/>
                </a:solidFill>
              </a:rPr>
              <a:t>VISIONGUARD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146732F-F1CA-4981-B1CC-AE9A1566B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9810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AFC"/>
                </a:solidFill>
              </a:defRPr>
            </a:pPr>
            <a:r>
              <a:rPr sz="3150" b="1">
                <a:solidFill>
                  <a:srgbClr val="F5FAFC"/>
                </a:solidFill>
              </a:rPr>
              <a:t>One loop connects gestures, identity, and actions</a:t>
            </a:r>
          </a:p>
        </p:txBody>
      </p:sp>
      <p:sp>
        <p:nvSpPr>
          <p:cNvPr id="4" name="objective-num-0">
            <a:extLst xmlns:a="http://schemas.openxmlformats.org/drawingml/2006/main">
              <a:ext uri="{FF2B5EF4-FFF2-40B4-BE49-F238E27FC236}">
                <a16:creationId xmlns:a16="http://schemas.microsoft.com/office/drawing/2014/main" id="{43891E77-0D2B-49D0-8F7D-32987E7C8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7E8F9"/>
                </a:solidFill>
              </a:defRPr>
            </a:pPr>
            <a:r>
              <a:rPr sz="2100" b="1">
                <a:solidFill>
                  <a:srgbClr val="67E8F9"/>
                </a:solidFill>
              </a:rPr>
              <a:t>01</a:t>
            </a:r>
          </a:p>
        </p:txBody>
      </p:sp>
      <p:sp>
        <p:nvSpPr>
          <p:cNvPr id="5" name="objective-head-0">
            <a:extLst xmlns:a="http://schemas.openxmlformats.org/drawingml/2006/main">
              <a:ext uri="{FF2B5EF4-FFF2-40B4-BE49-F238E27FC236}">
                <a16:creationId xmlns:a16="http://schemas.microsoft.com/office/drawing/2014/main" id="{ECE4A540-C8D9-4FB1-A43A-6BF107E12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6573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AFC"/>
                </a:solidFill>
              </a:defRPr>
            </a:pPr>
            <a:r>
              <a:rPr sz="1950" b="1">
                <a:solidFill>
                  <a:srgbClr val="F5FAFC"/>
                </a:solidFill>
              </a:rPr>
              <a:t>Monitor</a:t>
            </a:r>
          </a:p>
        </p:txBody>
      </p:sp>
      <p:sp>
        <p:nvSpPr>
          <p:cNvPr id="6" name="objective-body-0">
            <a:extLst xmlns:a="http://schemas.openxmlformats.org/drawingml/2006/main">
              <a:ext uri="{FF2B5EF4-FFF2-40B4-BE49-F238E27FC236}">
                <a16:creationId xmlns:a16="http://schemas.microsoft.com/office/drawing/2014/main" id="{E59F5543-1482-415F-950F-0283483C3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6764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3BD"/>
                </a:solidFill>
              </a:defRPr>
            </a:pPr>
            <a:r>
              <a:rPr sz="1650" b="0">
                <a:solidFill>
                  <a:srgbClr val="A7B3BD"/>
                </a:solidFill>
              </a:rPr>
              <a:t>Start a camera session and show readiness state.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549BA9-C431-46AE-8B38-A184BA31F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8" name="objective-num-1">
            <a:extLst xmlns:a="http://schemas.openxmlformats.org/drawingml/2006/main">
              <a:ext uri="{FF2B5EF4-FFF2-40B4-BE49-F238E27FC236}">
                <a16:creationId xmlns:a16="http://schemas.microsoft.com/office/drawing/2014/main" id="{15C933F6-AA0A-4B45-9A9A-9ECA6BF7B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7E8F9"/>
                </a:solidFill>
              </a:defRPr>
            </a:pPr>
            <a:r>
              <a:rPr sz="2100" b="1">
                <a:solidFill>
                  <a:srgbClr val="67E8F9"/>
                </a:solidFill>
              </a:rPr>
              <a:t>02</a:t>
            </a:r>
          </a:p>
        </p:txBody>
      </p:sp>
      <p:sp>
        <p:nvSpPr>
          <p:cNvPr id="9" name="objective-head-1">
            <a:extLst xmlns:a="http://schemas.openxmlformats.org/drawingml/2006/main">
              <a:ext uri="{FF2B5EF4-FFF2-40B4-BE49-F238E27FC236}">
                <a16:creationId xmlns:a16="http://schemas.microsoft.com/office/drawing/2014/main" id="{B1BF936D-7938-4B86-91D6-1EF3053F9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3241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AFC"/>
                </a:solidFill>
              </a:defRPr>
            </a:pPr>
            <a:r>
              <a:rPr sz="1950" b="1">
                <a:solidFill>
                  <a:srgbClr val="F5FAFC"/>
                </a:solidFill>
              </a:rPr>
              <a:t>Record</a:t>
            </a:r>
          </a:p>
        </p:txBody>
      </p:sp>
      <p:sp>
        <p:nvSpPr>
          <p:cNvPr id="10" name="objective-body-1">
            <a:extLst xmlns:a="http://schemas.openxmlformats.org/drawingml/2006/main">
              <a:ext uri="{FF2B5EF4-FFF2-40B4-BE49-F238E27FC236}">
                <a16:creationId xmlns:a16="http://schemas.microsoft.com/office/drawing/2014/main" id="{82D3F47E-E6FD-437E-8F7C-1035D41A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431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3BD"/>
                </a:solidFill>
              </a:defRPr>
            </a:pPr>
            <a:r>
              <a:rPr sz="1650" b="0">
                <a:solidFill>
                  <a:srgbClr val="A7B3BD"/>
                </a:solidFill>
              </a:rPr>
              <a:t>Capture 12 valid hand samples for a gesture.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F26256-1D8B-4A37-9E65-90E8B6E7F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12" name="objective-num-2">
            <a:extLst xmlns:a="http://schemas.openxmlformats.org/drawingml/2006/main">
              <a:ext uri="{FF2B5EF4-FFF2-40B4-BE49-F238E27FC236}">
                <a16:creationId xmlns:a16="http://schemas.microsoft.com/office/drawing/2014/main" id="{AAB9F0BE-F3CD-4AF8-920B-9C75ED97F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7E8F9"/>
                </a:solidFill>
              </a:defRPr>
            </a:pPr>
            <a:r>
              <a:rPr sz="2100" b="1">
                <a:solidFill>
                  <a:srgbClr val="67E8F9"/>
                </a:solidFill>
              </a:rPr>
              <a:t>03</a:t>
            </a:r>
          </a:p>
        </p:txBody>
      </p:sp>
      <p:sp>
        <p:nvSpPr>
          <p:cNvPr id="13" name="objective-head-2">
            <a:extLst xmlns:a="http://schemas.openxmlformats.org/drawingml/2006/main">
              <a:ext uri="{FF2B5EF4-FFF2-40B4-BE49-F238E27FC236}">
                <a16:creationId xmlns:a16="http://schemas.microsoft.com/office/drawing/2014/main" id="{53A877E9-6DD5-4BF7-8582-F47FA89B1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9908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AFC"/>
                </a:solidFill>
              </a:defRPr>
            </a:pPr>
            <a:r>
              <a:rPr sz="1950" b="1">
                <a:solidFill>
                  <a:srgbClr val="F5FAFC"/>
                </a:solidFill>
              </a:rPr>
              <a:t>Train</a:t>
            </a:r>
          </a:p>
        </p:txBody>
      </p:sp>
      <p:sp>
        <p:nvSpPr>
          <p:cNvPr id="14" name="objective-body-2">
            <a:extLst xmlns:a="http://schemas.openxmlformats.org/drawingml/2006/main">
              <a:ext uri="{FF2B5EF4-FFF2-40B4-BE49-F238E27FC236}">
                <a16:creationId xmlns:a16="http://schemas.microsoft.com/office/drawing/2014/main" id="{EE3410ED-884C-4A16-A30F-179145CA0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099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3BD"/>
                </a:solidFill>
              </a:defRPr>
            </a:pPr>
            <a:r>
              <a:rPr sz="1650" b="0">
                <a:solidFill>
                  <a:srgbClr val="A7B3BD"/>
                </a:solidFill>
              </a:rPr>
              <a:t>Create a dataset and run a local training job.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81C7AD-DFD4-4960-BF34-46E2833D3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16" name="objective-num-3">
            <a:extLst xmlns:a="http://schemas.openxmlformats.org/drawingml/2006/main">
              <a:ext uri="{FF2B5EF4-FFF2-40B4-BE49-F238E27FC236}">
                <a16:creationId xmlns:a16="http://schemas.microsoft.com/office/drawing/2014/main" id="{C401AD46-ADAB-4521-828F-A9A599D3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7E8F9"/>
                </a:solidFill>
              </a:defRPr>
            </a:pPr>
            <a:r>
              <a:rPr sz="2100" b="1">
                <a:solidFill>
                  <a:srgbClr val="67E8F9"/>
                </a:solidFill>
              </a:rPr>
              <a:t>04</a:t>
            </a:r>
          </a:p>
        </p:txBody>
      </p:sp>
      <p:sp>
        <p:nvSpPr>
          <p:cNvPr id="17" name="objective-head-3">
            <a:extLst xmlns:a="http://schemas.openxmlformats.org/drawingml/2006/main">
              <a:ext uri="{FF2B5EF4-FFF2-40B4-BE49-F238E27FC236}">
                <a16:creationId xmlns:a16="http://schemas.microsoft.com/office/drawing/2014/main" id="{A0415939-A4D1-4DB3-A7EE-248FDF03F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6576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AFC"/>
                </a:solidFill>
              </a:defRPr>
            </a:pPr>
            <a:r>
              <a:rPr sz="1950" b="1">
                <a:solidFill>
                  <a:srgbClr val="F5FAFC"/>
                </a:solidFill>
              </a:rPr>
              <a:t>Verify</a:t>
            </a:r>
          </a:p>
        </p:txBody>
      </p:sp>
      <p:sp>
        <p:nvSpPr>
          <p:cNvPr id="18" name="objective-body-3">
            <a:extLst xmlns:a="http://schemas.openxmlformats.org/drawingml/2006/main">
              <a:ext uri="{FF2B5EF4-FFF2-40B4-BE49-F238E27FC236}">
                <a16:creationId xmlns:a16="http://schemas.microsoft.com/office/drawing/2014/main" id="{0871E546-4B2B-4D3D-84B8-DFFC53E6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766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3BD"/>
                </a:solidFill>
              </a:defRPr>
            </a:pPr>
            <a:r>
              <a:rPr sz="1650" b="0">
                <a:solidFill>
                  <a:srgbClr val="A7B3BD"/>
                </a:solidFill>
              </a:rPr>
              <a:t>Track user presence and identity state.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B8701B-3C53-4924-AF50-93C548CF5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20" name="objective-num-4">
            <a:extLst xmlns:a="http://schemas.openxmlformats.org/drawingml/2006/main">
              <a:ext uri="{FF2B5EF4-FFF2-40B4-BE49-F238E27FC236}">
                <a16:creationId xmlns:a16="http://schemas.microsoft.com/office/drawing/2014/main" id="{558CBEAC-3FDD-4ECD-972C-0A90B9B9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7E8F9"/>
                </a:solidFill>
              </a:defRPr>
            </a:pPr>
            <a:r>
              <a:rPr sz="2100" b="1">
                <a:solidFill>
                  <a:srgbClr val="67E8F9"/>
                </a:solidFill>
              </a:rPr>
              <a:t>05</a:t>
            </a:r>
          </a:p>
        </p:txBody>
      </p:sp>
      <p:sp>
        <p:nvSpPr>
          <p:cNvPr id="21" name="objective-head-4">
            <a:extLst xmlns:a="http://schemas.openxmlformats.org/drawingml/2006/main">
              <a:ext uri="{FF2B5EF4-FFF2-40B4-BE49-F238E27FC236}">
                <a16:creationId xmlns:a16="http://schemas.microsoft.com/office/drawing/2014/main" id="{6E4FDC37-E7C4-4E60-849A-77F04DE46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243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AFC"/>
                </a:solidFill>
              </a:defRPr>
            </a:pPr>
            <a:r>
              <a:rPr sz="1950" b="1">
                <a:solidFill>
                  <a:srgbClr val="F5FAFC"/>
                </a:solidFill>
              </a:rPr>
              <a:t>Infer</a:t>
            </a:r>
          </a:p>
        </p:txBody>
      </p:sp>
      <p:sp>
        <p:nvSpPr>
          <p:cNvPr id="22" name="objective-body-4">
            <a:extLst xmlns:a="http://schemas.openxmlformats.org/drawingml/2006/main">
              <a:ext uri="{FF2B5EF4-FFF2-40B4-BE49-F238E27FC236}">
                <a16:creationId xmlns:a16="http://schemas.microsoft.com/office/drawing/2014/main" id="{06F87133-537F-499C-9B77-A59A8CED9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3434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3BD"/>
                </a:solidFill>
              </a:defRPr>
            </a:pPr>
            <a:r>
              <a:rPr sz="1650" b="0">
                <a:solidFill>
                  <a:srgbClr val="A7B3BD"/>
                </a:solidFill>
              </a:rPr>
              <a:t>Predict gestures from live camera frames.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849BEA-8BF8-4A87-ABAB-D00ADB5A8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24" name="objective-num-5">
            <a:extLst xmlns:a="http://schemas.openxmlformats.org/drawingml/2006/main">
              <a:ext uri="{FF2B5EF4-FFF2-40B4-BE49-F238E27FC236}">
                <a16:creationId xmlns:a16="http://schemas.microsoft.com/office/drawing/2014/main" id="{4C502958-3060-48B2-8310-CDB2A72D4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9110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7E8F9"/>
                </a:solidFill>
              </a:defRPr>
            </a:pPr>
            <a:r>
              <a:rPr sz="2100" b="1">
                <a:solidFill>
                  <a:srgbClr val="67E8F9"/>
                </a:solidFill>
              </a:rPr>
              <a:t>06</a:t>
            </a:r>
          </a:p>
        </p:txBody>
      </p:sp>
      <p:sp>
        <p:nvSpPr>
          <p:cNvPr id="25" name="objective-head-5">
            <a:extLst xmlns:a="http://schemas.openxmlformats.org/drawingml/2006/main">
              <a:ext uri="{FF2B5EF4-FFF2-40B4-BE49-F238E27FC236}">
                <a16:creationId xmlns:a16="http://schemas.microsoft.com/office/drawing/2014/main" id="{D41B51A1-8F40-4EEC-B471-574F6075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9911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AFC"/>
                </a:solidFill>
              </a:defRPr>
            </a:pPr>
            <a:r>
              <a:rPr sz="1950" b="1">
                <a:solidFill>
                  <a:srgbClr val="F5FAFC"/>
                </a:solidFill>
              </a:rPr>
              <a:t>Act</a:t>
            </a:r>
          </a:p>
        </p:txBody>
      </p:sp>
      <p:sp>
        <p:nvSpPr>
          <p:cNvPr id="26" name="objective-body-5">
            <a:extLst xmlns:a="http://schemas.openxmlformats.org/drawingml/2006/main">
              <a:ext uri="{FF2B5EF4-FFF2-40B4-BE49-F238E27FC236}">
                <a16:creationId xmlns:a16="http://schemas.microsoft.com/office/drawing/2014/main" id="{40331CA0-6389-4F5C-9801-FA159D130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0101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3BD"/>
                </a:solidFill>
              </a:defRPr>
            </a:pPr>
            <a:r>
              <a:rPr sz="1650" b="0">
                <a:solidFill>
                  <a:srgbClr val="A7B3BD"/>
                </a:solidFill>
              </a:rPr>
              <a:t>Trigger desktop actions after a confident match.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FEF024-B029-4576-85D9-B57B85EA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28" name="footer-3">
            <a:extLst xmlns:a="http://schemas.openxmlformats.org/drawingml/2006/main">
              <a:ext uri="{FF2B5EF4-FFF2-40B4-BE49-F238E27FC236}">
                <a16:creationId xmlns:a16="http://schemas.microsoft.com/office/drawing/2014/main" id="{3CDD3BF3-E5FB-46B3-A806-D9E9B4075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293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7B3BD"/>
                </a:solidFill>
              </a:defRPr>
            </a:pPr>
            <a:r>
              <a:rPr sz="1050" b="0">
                <a:solidFill>
                  <a:srgbClr val="A7B3BD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8915040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0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dark-background">
            <a:extLst xmlns:a="http://schemas.openxmlformats.org/drawingml/2006/main">
              <a:ext uri="{FF2B5EF4-FFF2-40B4-BE49-F238E27FC236}">
                <a16:creationId xmlns:a16="http://schemas.microsoft.com/office/drawing/2014/main" id="{0B488F27-6F3F-43AC-B9F6-D6F44B77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4"/>
          </a:solidFill>
          <a:ln xmlns:a="http://schemas.openxmlformats.org/drawingml/2006/main" w="0">
            <a:solidFill>
              <a:srgbClr val="071014"/>
            </a:solidFill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DDBD4A5D-B2C1-422C-98F1-E1D6CFA48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7E8F9"/>
                </a:solidFill>
              </a:defRPr>
            </a:pPr>
            <a:r>
              <a:rPr sz="1275" b="1">
                <a:solidFill>
                  <a:srgbClr val="67E8F9"/>
                </a:solidFill>
              </a:rPr>
              <a:t>VISIONGUARD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138CE05-5380-466F-8A40-2BF2F88D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9810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AFC"/>
                </a:solidFill>
              </a:defRPr>
            </a:pPr>
            <a:r>
              <a:rPr sz="3150" b="1">
                <a:solidFill>
                  <a:srgbClr val="F5FAFC"/>
                </a:solidFill>
              </a:rPr>
              <a:t>UI, desktop control, and AI stay separate</a:t>
            </a:r>
          </a:p>
        </p:txBody>
      </p:sp>
      <p:sp>
        <p:nvSpPr>
          <p:cNvPr id="4" name="flow-0">
            <a:extLst xmlns:a="http://schemas.openxmlformats.org/drawingml/2006/main">
              <a:ext uri="{FF2B5EF4-FFF2-40B4-BE49-F238E27FC236}">
                <a16:creationId xmlns:a16="http://schemas.microsoft.com/office/drawing/2014/main" id="{0F5A65E7-608C-4A41-8425-CB24193F0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23431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71014"/>
          </a:solidFill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5" name="flow-0-title">
            <a:extLst xmlns:a="http://schemas.openxmlformats.org/drawingml/2006/main">
              <a:ext uri="{FF2B5EF4-FFF2-40B4-BE49-F238E27FC236}">
                <a16:creationId xmlns:a16="http://schemas.microsoft.com/office/drawing/2014/main" id="{35892BBD-A7BF-46A4-9FC5-F908146BF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AFC"/>
                </a:solidFill>
              </a:defRPr>
            </a:pPr>
            <a:r>
              <a:rPr sz="1650" b="1">
                <a:solidFill>
                  <a:srgbClr val="F5FAFC"/>
                </a:solidFill>
              </a:rPr>
              <a:t>React renderer</a:t>
            </a:r>
          </a:p>
        </p:txBody>
      </p:sp>
      <p:sp>
        <p:nvSpPr>
          <p:cNvPr id="6" name="flow-0-body">
            <a:extLst xmlns:a="http://schemas.openxmlformats.org/drawingml/2006/main">
              <a:ext uri="{FF2B5EF4-FFF2-40B4-BE49-F238E27FC236}">
                <a16:creationId xmlns:a16="http://schemas.microsoft.com/office/drawing/2014/main" id="{88C9089B-179D-4C60-BFCB-0A2EFDA09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2000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3BD"/>
                </a:solidFill>
              </a:defRPr>
            </a:pPr>
            <a:r>
              <a:rPr sz="1200" b="0">
                <a:solidFill>
                  <a:srgbClr val="A7B3BD"/>
                </a:solidFill>
              </a:rPr>
              <a:t>Camera UI, gesture library, model health</a:t>
            </a:r>
          </a:p>
        </p:txBody>
      </p:sp>
      <p:sp>
        <p:nvSpPr>
          <p:cNvPr id="7" name="flow-1">
            <a:extLst xmlns:a="http://schemas.openxmlformats.org/drawingml/2006/main">
              <a:ext uri="{FF2B5EF4-FFF2-40B4-BE49-F238E27FC236}">
                <a16:creationId xmlns:a16="http://schemas.microsoft.com/office/drawing/2014/main" id="{6018E81B-97B9-4D8D-950B-4609C7E62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476500"/>
            <a:ext cx="23431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71014"/>
          </a:solidFill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8" name="flow-1-title">
            <a:extLst xmlns:a="http://schemas.openxmlformats.org/drawingml/2006/main">
              <a:ext uri="{FF2B5EF4-FFF2-40B4-BE49-F238E27FC236}">
                <a16:creationId xmlns:a16="http://schemas.microsoft.com/office/drawing/2014/main" id="{525813AE-D012-4A12-8270-61E7A9A5C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6479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AFC"/>
                </a:solidFill>
              </a:defRPr>
            </a:pPr>
            <a:r>
              <a:rPr sz="1650" b="1">
                <a:solidFill>
                  <a:srgbClr val="F5FAFC"/>
                </a:solidFill>
              </a:rPr>
              <a:t>Electron main</a:t>
            </a:r>
          </a:p>
        </p:txBody>
      </p:sp>
      <p:sp>
        <p:nvSpPr>
          <p:cNvPr id="9" name="flow-1-body">
            <a:extLst xmlns:a="http://schemas.openxmlformats.org/drawingml/2006/main">
              <a:ext uri="{FF2B5EF4-FFF2-40B4-BE49-F238E27FC236}">
                <a16:creationId xmlns:a16="http://schemas.microsoft.com/office/drawing/2014/main" id="{B5D8C4D1-4CE7-4E66-9B89-8835AFB5E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28950"/>
            <a:ext cx="2000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3BD"/>
                </a:solidFill>
              </a:defRPr>
            </a:pPr>
            <a:r>
              <a:rPr sz="1200" b="0">
                <a:solidFill>
                  <a:srgbClr val="A7B3BD"/>
                </a:solidFill>
              </a:rPr>
              <a:t>IPC, sample files, desktop actions</a:t>
            </a:r>
          </a:p>
        </p:txBody>
      </p:sp>
      <p:sp>
        <p:nvSpPr>
          <p:cNvPr id="10" name="flow-2">
            <a:extLst xmlns:a="http://schemas.openxmlformats.org/drawingml/2006/main">
              <a:ext uri="{FF2B5EF4-FFF2-40B4-BE49-F238E27FC236}">
                <a16:creationId xmlns:a16="http://schemas.microsoft.com/office/drawing/2014/main" id="{CDA17D03-3502-45B1-98B6-6010FD2B1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476500"/>
            <a:ext cx="23431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71014"/>
          </a:solidFill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11" name="flow-2-title">
            <a:extLst xmlns:a="http://schemas.openxmlformats.org/drawingml/2006/main">
              <a:ext uri="{FF2B5EF4-FFF2-40B4-BE49-F238E27FC236}">
                <a16:creationId xmlns:a16="http://schemas.microsoft.com/office/drawing/2014/main" id="{2DE42C96-8466-4868-8E45-FB231802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79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AFC"/>
                </a:solidFill>
              </a:defRPr>
            </a:pPr>
            <a:r>
              <a:rPr sz="1650" b="1">
                <a:solidFill>
                  <a:srgbClr val="F5FAFC"/>
                </a:solidFill>
              </a:rPr>
              <a:t>Shared kernel</a:t>
            </a:r>
          </a:p>
        </p:txBody>
      </p:sp>
      <p:sp>
        <p:nvSpPr>
          <p:cNvPr id="12" name="flow-2-body">
            <a:extLst xmlns:a="http://schemas.openxmlformats.org/drawingml/2006/main">
              <a:ext uri="{FF2B5EF4-FFF2-40B4-BE49-F238E27FC236}">
                <a16:creationId xmlns:a16="http://schemas.microsoft.com/office/drawing/2014/main" id="{5AC7C23B-FAB4-43DF-8B0E-343D9B0F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28950"/>
            <a:ext cx="2000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3BD"/>
                </a:solidFill>
              </a:defRPr>
            </a:pPr>
            <a:r>
              <a:rPr sz="1200" b="0">
                <a:solidFill>
                  <a:srgbClr val="A7B3BD"/>
                </a:solidFill>
              </a:rPr>
              <a:t>Typed AI service contract</a:t>
            </a:r>
          </a:p>
        </p:txBody>
      </p:sp>
      <p:sp>
        <p:nvSpPr>
          <p:cNvPr id="13" name="flow-3">
            <a:extLst xmlns:a="http://schemas.openxmlformats.org/drawingml/2006/main">
              <a:ext uri="{FF2B5EF4-FFF2-40B4-BE49-F238E27FC236}">
                <a16:creationId xmlns:a16="http://schemas.microsoft.com/office/drawing/2014/main" id="{F0E37819-C494-4F50-99A3-F918CCAD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476500"/>
            <a:ext cx="23431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0B2F3A"/>
          </a:solidFill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14" name="flow-3-title">
            <a:extLst xmlns:a="http://schemas.openxmlformats.org/drawingml/2006/main">
              <a:ext uri="{FF2B5EF4-FFF2-40B4-BE49-F238E27FC236}">
                <a16:creationId xmlns:a16="http://schemas.microsoft.com/office/drawing/2014/main" id="{A66BCB02-64E1-4627-9603-17A6D4443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6479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AFC"/>
                </a:solidFill>
              </a:defRPr>
            </a:pPr>
            <a:r>
              <a:rPr sz="1650" b="1">
                <a:solidFill>
                  <a:srgbClr val="F5FAFC"/>
                </a:solidFill>
              </a:rPr>
              <a:t>FastAPI service</a:t>
            </a:r>
          </a:p>
        </p:txBody>
      </p:sp>
      <p:sp>
        <p:nvSpPr>
          <p:cNvPr id="15" name="flow-3-body">
            <a:extLst xmlns:a="http://schemas.openxmlformats.org/drawingml/2006/main">
              <a:ext uri="{FF2B5EF4-FFF2-40B4-BE49-F238E27FC236}">
                <a16:creationId xmlns:a16="http://schemas.microsoft.com/office/drawing/2014/main" id="{79209407-7E94-48A3-BF78-D8FA503DE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028950"/>
            <a:ext cx="2000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3BD"/>
                </a:solidFill>
              </a:defRPr>
            </a:pPr>
            <a:r>
              <a:rPr sz="1200" b="0">
                <a:solidFill>
                  <a:srgbClr val="A7B3BD"/>
                </a:solidFill>
              </a:rPr>
              <a:t>Datasets, jobs, hand checks, inference</a:t>
            </a:r>
          </a:p>
        </p:txBody>
      </p:sp>
      <p:sp>
        <p:nvSpPr>
          <p:cNvPr id="16" name="flow-arrow-0">
            <a:extLst xmlns:a="http://schemas.openxmlformats.org/drawingml/2006/main">
              <a:ext uri="{FF2B5EF4-FFF2-40B4-BE49-F238E27FC236}">
                <a16:creationId xmlns:a16="http://schemas.microsoft.com/office/drawing/2014/main" id="{06AA0C76-8B1A-4425-A50F-2D89AAFC5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143250"/>
            <a:ext cx="1905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7E8F9"/>
          </a:solidFill>
          <a:ln xmlns:a="http://schemas.openxmlformats.org/drawingml/2006/main" w="0">
            <a:solidFill>
              <a:srgbClr val="67E8F9"/>
            </a:solidFill>
            <a:prstDash val="solid"/>
          </a:ln>
        </p:spPr>
      </p:sp>
      <p:sp>
        <p:nvSpPr>
          <p:cNvPr id="17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0DDEB5AF-97F8-4554-B185-D59EE70D4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3143250"/>
            <a:ext cx="1905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7E8F9"/>
          </a:solidFill>
          <a:ln xmlns:a="http://schemas.openxmlformats.org/drawingml/2006/main" w="0">
            <a:solidFill>
              <a:srgbClr val="67E8F9"/>
            </a:solidFill>
            <a:prstDash val="solid"/>
          </a:ln>
        </p:spPr>
      </p:sp>
      <p:sp>
        <p:nvSpPr>
          <p:cNvPr id="18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62AF6BA6-251D-4F0C-AC9B-793BDC9BA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3143250"/>
            <a:ext cx="1905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7E8F9"/>
          </a:solidFill>
          <a:ln xmlns:a="http://schemas.openxmlformats.org/drawingml/2006/main" w="0">
            <a:solidFill>
              <a:srgbClr val="67E8F9"/>
            </a:solidFill>
            <a:prstDash val="solid"/>
          </a:ln>
        </p:spPr>
      </p:sp>
      <p:sp>
        <p:nvSpPr>
          <p:cNvPr id="19" name="architecture-note">
            <a:extLst xmlns:a="http://schemas.openxmlformats.org/drawingml/2006/main">
              <a:ext uri="{FF2B5EF4-FFF2-40B4-BE49-F238E27FC236}">
                <a16:creationId xmlns:a16="http://schemas.microsoft.com/office/drawing/2014/main" id="{1D797FE7-EF42-42FE-963E-8E6C7A55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29150"/>
            <a:ext cx="942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A7B3BD"/>
                </a:solidFill>
              </a:defRPr>
            </a:pPr>
            <a:r>
              <a:rPr sz="1800" b="0">
                <a:solidFill>
                  <a:srgbClr val="A7B3BD"/>
                </a:solidFill>
              </a:rPr>
              <a:t>Camera frames, model calls, and biometric data stay on the local machine through http://127.0.0.1:8765.</a:t>
            </a:r>
          </a:p>
        </p:txBody>
      </p:sp>
      <p:sp>
        <p:nvSpPr>
          <p:cNvPr id="20" name="footer-4">
            <a:extLst xmlns:a="http://schemas.openxmlformats.org/drawingml/2006/main">
              <a:ext uri="{FF2B5EF4-FFF2-40B4-BE49-F238E27FC236}">
                <a16:creationId xmlns:a16="http://schemas.microsoft.com/office/drawing/2014/main" id="{F7E2EEC6-B2AE-4360-8DFA-5AEB201D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293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7B3BD"/>
                </a:solidFill>
              </a:defRPr>
            </a:pPr>
            <a:r>
              <a:rPr sz="1050" b="0">
                <a:solidFill>
                  <a:srgbClr val="A7B3BD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833849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0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dark-background">
            <a:extLst xmlns:a="http://schemas.openxmlformats.org/drawingml/2006/main">
              <a:ext uri="{FF2B5EF4-FFF2-40B4-BE49-F238E27FC236}">
                <a16:creationId xmlns:a16="http://schemas.microsoft.com/office/drawing/2014/main" id="{2B9E424B-DC26-436F-853E-C4BF61966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4"/>
          </a:solidFill>
          <a:ln xmlns:a="http://schemas.openxmlformats.org/drawingml/2006/main" w="0">
            <a:solidFill>
              <a:srgbClr val="071014"/>
            </a:solidFill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680BD3D4-9B3C-429F-A4F5-7D5803BF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7E8F9"/>
                </a:solidFill>
              </a:defRPr>
            </a:pPr>
            <a:r>
              <a:rPr sz="1275" b="1">
                <a:solidFill>
                  <a:srgbClr val="67E8F9"/>
                </a:solidFill>
              </a:rPr>
              <a:t>VISIONGUARD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521232F-9C58-49DB-AF4E-DA813FD8E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9810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AFC"/>
                </a:solidFill>
              </a:defRPr>
            </a:pPr>
            <a:r>
              <a:rPr sz="3150" b="1">
                <a:solidFill>
                  <a:srgbClr val="F5FAFC"/>
                </a:solidFill>
              </a:rPr>
              <a:t>Docker makes the AI service reproducible</a:t>
            </a:r>
          </a:p>
        </p:txBody>
      </p:sp>
      <p:sp>
        <p:nvSpPr>
          <p:cNvPr id="4" name="docker-left">
            <a:extLst xmlns:a="http://schemas.openxmlformats.org/drawingml/2006/main">
              <a:ext uri="{FF2B5EF4-FFF2-40B4-BE49-F238E27FC236}">
                <a16:creationId xmlns:a16="http://schemas.microsoft.com/office/drawing/2014/main" id="{9431B1A3-E39E-44F1-97EE-2CFBCED4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47850"/>
            <a:ext cx="4686300" cy="3105150"/>
          </a:xfrm>
          <a:prstGeom xmlns:a="http://schemas.openxmlformats.org/drawingml/2006/main" prst="roundRect">
            <a:avLst>
              <a:gd name="adj" fmla="val 2454"/>
            </a:avLst>
          </a:prstGeom>
          <a:solidFill xmlns:a="http://schemas.openxmlformats.org/drawingml/2006/main">
            <a:srgbClr val="0B2F3A"/>
          </a:solidFill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5" name="docker-left-title">
            <a:extLst xmlns:a="http://schemas.openxmlformats.org/drawingml/2006/main">
              <a:ext uri="{FF2B5EF4-FFF2-40B4-BE49-F238E27FC236}">
                <a16:creationId xmlns:a16="http://schemas.microsoft.com/office/drawing/2014/main" id="{C96E75E2-F9A3-4512-9A79-B27DE36AA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6695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5FAFC"/>
                </a:solidFill>
              </a:defRPr>
            </a:pPr>
            <a:r>
              <a:rPr sz="2250" b="1">
                <a:solidFill>
                  <a:srgbClr val="F5FAFC"/>
                </a:solidFill>
              </a:rPr>
              <a:t>Why containers are used</a:t>
            </a:r>
          </a:p>
        </p:txBody>
      </p:sp>
      <p:sp>
        <p:nvSpPr>
          <p:cNvPr id="6" name="docker-left-body">
            <a:extLst xmlns:a="http://schemas.openxmlformats.org/drawingml/2006/main">
              <a:ext uri="{FF2B5EF4-FFF2-40B4-BE49-F238E27FC236}">
                <a16:creationId xmlns:a16="http://schemas.microsoft.com/office/drawing/2014/main" id="{04CC3FCF-F86F-4CCF-B3E6-111ECE4D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3714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AFC"/>
                </a:solidFill>
              </a:defRPr>
            </a:pPr>
            <a:r>
              <a:rPr sz="1650" b="0">
                <a:solidFill>
                  <a:srgbClr val="F5FAFC"/>
                </a:solidFill>
              </a:rPr>
              <a:t>The Python AI service depends on computer-vision libraries. Docker reduces setup differences between machines and keeps those dependencies isolated from the host system.</a:t>
            </a:r>
          </a:p>
        </p:txBody>
      </p:sp>
      <p:sp>
        <p:nvSpPr>
          <p:cNvPr id="7" name="docker-notes-head-0">
            <a:extLst xmlns:a="http://schemas.openxmlformats.org/drawingml/2006/main">
              <a:ext uri="{FF2B5EF4-FFF2-40B4-BE49-F238E27FC236}">
                <a16:creationId xmlns:a16="http://schemas.microsoft.com/office/drawing/2014/main" id="{EA081F89-521D-4ABE-9DFA-0080A686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193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AFC"/>
                </a:solidFill>
              </a:defRPr>
            </a:pPr>
            <a:r>
              <a:rPr sz="1800" b="1">
                <a:solidFill>
                  <a:srgbClr val="F5FAFC"/>
                </a:solidFill>
              </a:rPr>
              <a:t>Stable service setup</a:t>
            </a:r>
          </a:p>
        </p:txBody>
      </p:sp>
      <p:sp>
        <p:nvSpPr>
          <p:cNvPr id="8" name="docker-notes-body-0">
            <a:extLst xmlns:a="http://schemas.openxmlformats.org/drawingml/2006/main">
              <a:ext uri="{FF2B5EF4-FFF2-40B4-BE49-F238E27FC236}">
                <a16:creationId xmlns:a16="http://schemas.microsoft.com/office/drawing/2014/main" id="{EF1ECD7B-5C2F-4CFE-B58B-894D28E27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4315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3BD"/>
                </a:solidFill>
              </a:defRPr>
            </a:pPr>
            <a:r>
              <a:rPr sz="1275" b="0">
                <a:solidFill>
                  <a:srgbClr val="A7B3BD"/>
                </a:solidFill>
              </a:rPr>
              <a:t>OpenCV, MediaPipe, and model dependencies run in a controlled environment.</a:t>
            </a:r>
          </a:p>
        </p:txBody>
      </p:sp>
      <p:sp>
        <p:nvSpPr>
          <p:cNvPr id="9" name="docker-notes-head-1">
            <a:extLst xmlns:a="http://schemas.openxmlformats.org/drawingml/2006/main">
              <a:ext uri="{FF2B5EF4-FFF2-40B4-BE49-F238E27FC236}">
                <a16:creationId xmlns:a16="http://schemas.microsoft.com/office/drawing/2014/main" id="{1AA38DA3-1E4F-4031-B037-07B33F10E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289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AFC"/>
                </a:solidFill>
              </a:defRPr>
            </a:pPr>
            <a:r>
              <a:rPr sz="1800" b="1">
                <a:solidFill>
                  <a:srgbClr val="F5FAFC"/>
                </a:solidFill>
              </a:rPr>
              <a:t>Cleaner separation</a:t>
            </a:r>
          </a:p>
        </p:txBody>
      </p:sp>
      <p:sp>
        <p:nvSpPr>
          <p:cNvPr id="10" name="docker-notes-body-1">
            <a:extLst xmlns:a="http://schemas.openxmlformats.org/drawingml/2006/main">
              <a:ext uri="{FF2B5EF4-FFF2-40B4-BE49-F238E27FC236}">
                <a16:creationId xmlns:a16="http://schemas.microsoft.com/office/drawing/2014/main" id="{5AF6904B-53E1-48C6-9F9C-1426FF933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5280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3BD"/>
                </a:solidFill>
              </a:defRPr>
            </a:pPr>
            <a:r>
              <a:rPr sz="1275" b="0">
                <a:solidFill>
                  <a:srgbClr val="A7B3BD"/>
                </a:solidFill>
              </a:rPr>
              <a:t>Electron handles desktop and camera permissions; the container handles AI processing.</a:t>
            </a:r>
          </a:p>
        </p:txBody>
      </p:sp>
      <p:sp>
        <p:nvSpPr>
          <p:cNvPr id="11" name="docker-notes-head-2">
            <a:extLst xmlns:a="http://schemas.openxmlformats.org/drawingml/2006/main">
              <a:ext uri="{FF2B5EF4-FFF2-40B4-BE49-F238E27FC236}">
                <a16:creationId xmlns:a16="http://schemas.microsoft.com/office/drawing/2014/main" id="{C82F6526-275B-4916-841F-8C7B77EA2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0386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AFC"/>
                </a:solidFill>
              </a:defRPr>
            </a:pPr>
            <a:r>
              <a:rPr sz="1800" b="1">
                <a:solidFill>
                  <a:srgbClr val="F5FAFC"/>
                </a:solidFill>
              </a:rPr>
              <a:t>Future deployment path</a:t>
            </a:r>
          </a:p>
        </p:txBody>
      </p:sp>
      <p:sp>
        <p:nvSpPr>
          <p:cNvPr id="12" name="docker-notes-body-2">
            <a:extLst xmlns:a="http://schemas.openxmlformats.org/drawingml/2006/main">
              <a:ext uri="{FF2B5EF4-FFF2-40B4-BE49-F238E27FC236}">
                <a16:creationId xmlns:a16="http://schemas.microsoft.com/office/drawing/2014/main" id="{BD8BC8D5-1278-4F0E-81C4-00B974315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362450"/>
            <a:ext cx="457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3BD"/>
                </a:solidFill>
              </a:defRPr>
            </a:pPr>
            <a:r>
              <a:rPr sz="1275" b="0">
                <a:solidFill>
                  <a:srgbClr val="A7B3BD"/>
                </a:solidFill>
              </a:rPr>
              <a:t>Docker Compose can later start the AI service and storage layer together.</a:t>
            </a:r>
          </a:p>
        </p:txBody>
      </p:sp>
      <p:sp>
        <p:nvSpPr>
          <p:cNvPr id="13" name="footer-5">
            <a:extLst xmlns:a="http://schemas.openxmlformats.org/drawingml/2006/main">
              <a:ext uri="{FF2B5EF4-FFF2-40B4-BE49-F238E27FC236}">
                <a16:creationId xmlns:a16="http://schemas.microsoft.com/office/drawing/2014/main" id="{5BCFCB14-F728-48BD-8BA0-241E2A424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293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7B3BD"/>
                </a:solidFill>
              </a:defRPr>
            </a:pPr>
            <a:r>
              <a:rPr sz="1050" b="0">
                <a:solidFill>
                  <a:srgbClr val="A7B3BD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1558708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0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dark-background">
            <a:extLst xmlns:a="http://schemas.openxmlformats.org/drawingml/2006/main">
              <a:ext uri="{FF2B5EF4-FFF2-40B4-BE49-F238E27FC236}">
                <a16:creationId xmlns:a16="http://schemas.microsoft.com/office/drawing/2014/main" id="{D3257E14-25E4-4C9C-924B-38D01CDF2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4"/>
          </a:solidFill>
          <a:ln xmlns:a="http://schemas.openxmlformats.org/drawingml/2006/main" w="0">
            <a:solidFill>
              <a:srgbClr val="071014"/>
            </a:solidFill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76F1E329-2A55-4FB9-A2E2-7BF74A5B7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7E8F9"/>
                </a:solidFill>
              </a:defRPr>
            </a:pPr>
            <a:r>
              <a:rPr sz="1275" b="1">
                <a:solidFill>
                  <a:srgbClr val="67E8F9"/>
                </a:solidFill>
              </a:rPr>
              <a:t>VISIONGUARD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E9E0E21-25D5-4FF0-B07E-00F45D7F3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9810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AFC"/>
                </a:solidFill>
              </a:defRPr>
            </a:pPr>
            <a:r>
              <a:rPr sz="3150" b="1">
                <a:solidFill>
                  <a:srgbClr val="F5FAFC"/>
                </a:solidFill>
              </a:rPr>
              <a:t>Samples become confident actions</a:t>
            </a:r>
          </a:p>
        </p:txBody>
      </p:sp>
      <p:sp>
        <p:nvSpPr>
          <p:cNvPr id="4" name="flow-0">
            <a:extLst xmlns:a="http://schemas.openxmlformats.org/drawingml/2006/main">
              <a:ext uri="{FF2B5EF4-FFF2-40B4-BE49-F238E27FC236}">
                <a16:creationId xmlns:a16="http://schemas.microsoft.com/office/drawing/2014/main" id="{0BAE5FF0-3CD0-4E69-823A-3697DB5D3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234315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071014"/>
          </a:solidFill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5" name="flow-0-title">
            <a:extLst xmlns:a="http://schemas.openxmlformats.org/drawingml/2006/main">
              <a:ext uri="{FF2B5EF4-FFF2-40B4-BE49-F238E27FC236}">
                <a16:creationId xmlns:a16="http://schemas.microsoft.com/office/drawing/2014/main" id="{2066369F-FD5D-4CEE-B33B-9B368B0C4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336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AFC"/>
                </a:solidFill>
              </a:defRPr>
            </a:pPr>
            <a:r>
              <a:rPr sz="1650" b="1">
                <a:solidFill>
                  <a:srgbClr val="F5FAFC"/>
                </a:solidFill>
              </a:rPr>
              <a:t>Capture</a:t>
            </a:r>
          </a:p>
        </p:txBody>
      </p:sp>
      <p:sp>
        <p:nvSpPr>
          <p:cNvPr id="6" name="flow-0-body">
            <a:extLst xmlns:a="http://schemas.openxmlformats.org/drawingml/2006/main">
              <a:ext uri="{FF2B5EF4-FFF2-40B4-BE49-F238E27FC236}">
                <a16:creationId xmlns:a16="http://schemas.microsoft.com/office/drawing/2014/main" id="{231EC195-A0DA-4539-84A5-3859C016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14650"/>
            <a:ext cx="2000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3BD"/>
                </a:solidFill>
              </a:defRPr>
            </a:pPr>
            <a:r>
              <a:rPr sz="1200" b="0">
                <a:solidFill>
                  <a:srgbClr val="A7B3BD"/>
                </a:solidFill>
              </a:rPr>
              <a:t>User shows a hand gesture to the camera.</a:t>
            </a:r>
          </a:p>
        </p:txBody>
      </p:sp>
      <p:sp>
        <p:nvSpPr>
          <p:cNvPr id="7" name="flow-1">
            <a:extLst xmlns:a="http://schemas.openxmlformats.org/drawingml/2006/main">
              <a:ext uri="{FF2B5EF4-FFF2-40B4-BE49-F238E27FC236}">
                <a16:creationId xmlns:a16="http://schemas.microsoft.com/office/drawing/2014/main" id="{611AC91E-93B9-48C9-954D-0639EBD8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62200"/>
            <a:ext cx="234315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071014"/>
          </a:solidFill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8" name="flow-1-title">
            <a:extLst xmlns:a="http://schemas.openxmlformats.org/drawingml/2006/main">
              <a:ext uri="{FF2B5EF4-FFF2-40B4-BE49-F238E27FC236}">
                <a16:creationId xmlns:a16="http://schemas.microsoft.com/office/drawing/2014/main" id="{B4FABACC-6536-4CFD-9DB6-C52A82599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5336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AFC"/>
                </a:solidFill>
              </a:defRPr>
            </a:pPr>
            <a:r>
              <a:rPr sz="1650" b="1">
                <a:solidFill>
                  <a:srgbClr val="F5FAFC"/>
                </a:solidFill>
              </a:rPr>
              <a:t>Validate</a:t>
            </a:r>
          </a:p>
        </p:txBody>
      </p:sp>
      <p:sp>
        <p:nvSpPr>
          <p:cNvPr id="9" name="flow-1-body">
            <a:extLst xmlns:a="http://schemas.openxmlformats.org/drawingml/2006/main">
              <a:ext uri="{FF2B5EF4-FFF2-40B4-BE49-F238E27FC236}">
                <a16:creationId xmlns:a16="http://schemas.microsoft.com/office/drawing/2014/main" id="{38B1BDFB-FF32-40BC-8207-8A88BB38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914650"/>
            <a:ext cx="2000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3BD"/>
                </a:solidFill>
              </a:defRPr>
            </a:pPr>
            <a:r>
              <a:rPr sz="1200" b="0">
                <a:solidFill>
                  <a:srgbClr val="A7B3BD"/>
                </a:solidFill>
              </a:rPr>
              <a:t>Hand presence is checked before saving samples.</a:t>
            </a:r>
          </a:p>
        </p:txBody>
      </p:sp>
      <p:sp>
        <p:nvSpPr>
          <p:cNvPr id="10" name="flow-2">
            <a:extLst xmlns:a="http://schemas.openxmlformats.org/drawingml/2006/main">
              <a:ext uri="{FF2B5EF4-FFF2-40B4-BE49-F238E27FC236}">
                <a16:creationId xmlns:a16="http://schemas.microsoft.com/office/drawing/2014/main" id="{3F769787-0E3C-4D68-9991-CE89DEE39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362200"/>
            <a:ext cx="234315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071014"/>
          </a:solidFill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11" name="flow-2-title">
            <a:extLst xmlns:a="http://schemas.openxmlformats.org/drawingml/2006/main">
              <a:ext uri="{FF2B5EF4-FFF2-40B4-BE49-F238E27FC236}">
                <a16:creationId xmlns:a16="http://schemas.microsoft.com/office/drawing/2014/main" id="{8D17AA78-D3E5-464B-ADC2-AD759AD2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336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AFC"/>
                </a:solidFill>
              </a:defRPr>
            </a:pPr>
            <a:r>
              <a:rPr sz="1650" b="1">
                <a:solidFill>
                  <a:srgbClr val="F5FAFC"/>
                </a:solidFill>
              </a:rPr>
              <a:t>Train</a:t>
            </a:r>
          </a:p>
        </p:txBody>
      </p:sp>
      <p:sp>
        <p:nvSpPr>
          <p:cNvPr id="12" name="flow-2-body">
            <a:extLst xmlns:a="http://schemas.openxmlformats.org/drawingml/2006/main">
              <a:ext uri="{FF2B5EF4-FFF2-40B4-BE49-F238E27FC236}">
                <a16:creationId xmlns:a16="http://schemas.microsoft.com/office/drawing/2014/main" id="{C5205DC7-E6B3-42C1-BCFD-0E8AFACF1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14650"/>
            <a:ext cx="2000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3BD"/>
                </a:solidFill>
              </a:defRPr>
            </a:pPr>
            <a:r>
              <a:rPr sz="1200" b="0">
                <a:solidFill>
                  <a:srgbClr val="A7B3BD"/>
                </a:solidFill>
              </a:rPr>
              <a:t>Samples become a local gesture model artifact.</a:t>
            </a:r>
          </a:p>
        </p:txBody>
      </p:sp>
      <p:sp>
        <p:nvSpPr>
          <p:cNvPr id="13" name="flow-3">
            <a:extLst xmlns:a="http://schemas.openxmlformats.org/drawingml/2006/main">
              <a:ext uri="{FF2B5EF4-FFF2-40B4-BE49-F238E27FC236}">
                <a16:creationId xmlns:a16="http://schemas.microsoft.com/office/drawing/2014/main" id="{E58C446E-A021-4B19-A028-0FEA831F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362200"/>
            <a:ext cx="234315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0B2F3A"/>
          </a:solidFill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14" name="flow-3-title">
            <a:extLst xmlns:a="http://schemas.openxmlformats.org/drawingml/2006/main">
              <a:ext uri="{FF2B5EF4-FFF2-40B4-BE49-F238E27FC236}">
                <a16:creationId xmlns:a16="http://schemas.microsoft.com/office/drawing/2014/main" id="{ED592780-D159-4751-893E-066C8FE41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5336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AFC"/>
                </a:solidFill>
              </a:defRPr>
            </a:pPr>
            <a:r>
              <a:rPr sz="1650" b="1">
                <a:solidFill>
                  <a:srgbClr val="F5FAFC"/>
                </a:solidFill>
              </a:rPr>
              <a:t>Execute</a:t>
            </a:r>
          </a:p>
        </p:txBody>
      </p:sp>
      <p:sp>
        <p:nvSpPr>
          <p:cNvPr id="15" name="flow-3-body">
            <a:extLst xmlns:a="http://schemas.openxmlformats.org/drawingml/2006/main">
              <a:ext uri="{FF2B5EF4-FFF2-40B4-BE49-F238E27FC236}">
                <a16:creationId xmlns:a16="http://schemas.microsoft.com/office/drawing/2014/main" id="{66EB523A-7BD9-4B2C-9D3B-82146454C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914650"/>
            <a:ext cx="2000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7B3BD"/>
                </a:solidFill>
              </a:defRPr>
            </a:pPr>
            <a:r>
              <a:rPr sz="1200" b="0">
                <a:solidFill>
                  <a:srgbClr val="A7B3BD"/>
                </a:solidFill>
              </a:rPr>
              <a:t>High-confidence matches trigger mapped actions.</a:t>
            </a:r>
          </a:p>
        </p:txBody>
      </p:sp>
      <p:sp>
        <p:nvSpPr>
          <p:cNvPr id="16" name="flow-arrow-0">
            <a:extLst xmlns:a="http://schemas.openxmlformats.org/drawingml/2006/main">
              <a:ext uri="{FF2B5EF4-FFF2-40B4-BE49-F238E27FC236}">
                <a16:creationId xmlns:a16="http://schemas.microsoft.com/office/drawing/2014/main" id="{82BBC63A-0960-4A01-999F-20BE018F5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105150"/>
            <a:ext cx="1905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7E8F9"/>
          </a:solidFill>
          <a:ln xmlns:a="http://schemas.openxmlformats.org/drawingml/2006/main" w="0">
            <a:solidFill>
              <a:srgbClr val="67E8F9"/>
            </a:solidFill>
            <a:prstDash val="solid"/>
          </a:ln>
        </p:spPr>
      </p:sp>
      <p:sp>
        <p:nvSpPr>
          <p:cNvPr id="17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39BAD60C-FC4B-405D-930F-4E662586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3105150"/>
            <a:ext cx="1905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7E8F9"/>
          </a:solidFill>
          <a:ln xmlns:a="http://schemas.openxmlformats.org/drawingml/2006/main" w="0">
            <a:solidFill>
              <a:srgbClr val="67E8F9"/>
            </a:solidFill>
            <a:prstDash val="solid"/>
          </a:ln>
        </p:spPr>
      </p:sp>
      <p:sp>
        <p:nvSpPr>
          <p:cNvPr id="18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A3A4F4C9-B0FA-428B-9DDB-530E0330D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3105150"/>
            <a:ext cx="1905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7E8F9"/>
          </a:solidFill>
          <a:ln xmlns:a="http://schemas.openxmlformats.org/drawingml/2006/main" w="0">
            <a:solidFill>
              <a:srgbClr val="67E8F9"/>
            </a:solidFill>
            <a:prstDash val="solid"/>
          </a:ln>
        </p:spPr>
      </p:sp>
      <p:sp>
        <p:nvSpPr>
          <p:cNvPr id="19" name="threshold">
            <a:extLst xmlns:a="http://schemas.openxmlformats.org/drawingml/2006/main">
              <a:ext uri="{FF2B5EF4-FFF2-40B4-BE49-F238E27FC236}">
                <a16:creationId xmlns:a16="http://schemas.microsoft.com/office/drawing/2014/main" id="{B91C8003-51D2-4570-9326-03A95B5D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762500"/>
            <a:ext cx="9239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7E8F9"/>
                </a:solidFill>
              </a:defRPr>
            </a:pPr>
            <a:r>
              <a:rPr sz="1800" b="1">
                <a:solidFill>
                  <a:srgbClr val="67E8F9"/>
                </a:solidFill>
              </a:rPr>
              <a:t>Execution threshold: 0.92 confidence with a cooldown to avoid repeated commands.</a:t>
            </a:r>
          </a:p>
        </p:txBody>
      </p:sp>
      <p:sp>
        <p:nvSpPr>
          <p:cNvPr id="20" name="footer-6">
            <a:extLst xmlns:a="http://schemas.openxmlformats.org/drawingml/2006/main">
              <a:ext uri="{FF2B5EF4-FFF2-40B4-BE49-F238E27FC236}">
                <a16:creationId xmlns:a16="http://schemas.microsoft.com/office/drawing/2014/main" id="{582FCDFD-36E3-4E76-882D-41A3953F3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293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7B3BD"/>
                </a:solidFill>
              </a:defRPr>
            </a:pPr>
            <a:r>
              <a:rPr sz="1050" b="0">
                <a:solidFill>
                  <a:srgbClr val="A7B3BD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5205273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0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dark-background">
            <a:extLst xmlns:a="http://schemas.openxmlformats.org/drawingml/2006/main">
              <a:ext uri="{FF2B5EF4-FFF2-40B4-BE49-F238E27FC236}">
                <a16:creationId xmlns:a16="http://schemas.microsoft.com/office/drawing/2014/main" id="{EA097F82-D919-4718-9879-71C1E4A0B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4"/>
          </a:solidFill>
          <a:ln xmlns:a="http://schemas.openxmlformats.org/drawingml/2006/main" w="0">
            <a:solidFill>
              <a:srgbClr val="071014"/>
            </a:solidFill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37D85220-B8E1-4101-A6E5-AA332CB7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7E8F9"/>
                </a:solidFill>
              </a:defRPr>
            </a:pPr>
            <a:r>
              <a:rPr sz="1275" b="1">
                <a:solidFill>
                  <a:srgbClr val="67E8F9"/>
                </a:solidFill>
              </a:rPr>
              <a:t>VISIONGUARD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682E6CD-2670-4C95-849E-531FDA66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9810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AFC"/>
                </a:solidFill>
              </a:defRPr>
            </a:pPr>
            <a:r>
              <a:rPr sz="3150" b="1">
                <a:solidFill>
                  <a:srgbClr val="F5FAFC"/>
                </a:solidFill>
              </a:rPr>
              <a:t>The live monitor makes system state visible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7fcf76d43a41c0"/>
          <a:srcRect xmlns:a="http://schemas.openxmlformats.org/drawingml/2006/main" l="0" t="8857" r="0" b="88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695450"/>
            <a:ext cx="7334250" cy="4191000"/>
          </a:xfrm>
          <a:prstGeom xmlns:a="http://schemas.openxmlformats.org/drawingml/2006/main" prst="roundRect">
            <a:avLst>
              <a:gd name="adj" fmla="val 1818"/>
            </a:avLst>
          </a:prstGeom>
        </p:spPr>
      </p:pic>
      <p:sp>
        <p:nvSpPr>
          <p:cNvPr id="5" name="monitor-notes-head-0">
            <a:extLst xmlns:a="http://schemas.openxmlformats.org/drawingml/2006/main">
              <a:ext uri="{FF2B5EF4-FFF2-40B4-BE49-F238E27FC236}">
                <a16:creationId xmlns:a16="http://schemas.microsoft.com/office/drawing/2014/main" id="{426838BA-50EA-4D49-8EEC-50B14842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621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AFC"/>
                </a:solidFill>
              </a:defRPr>
            </a:pPr>
            <a:r>
              <a:rPr sz="1800" b="1">
                <a:solidFill>
                  <a:srgbClr val="F5FAFC"/>
                </a:solidFill>
              </a:rPr>
              <a:t>Readiness</a:t>
            </a:r>
          </a:p>
        </p:txBody>
      </p:sp>
      <p:sp>
        <p:nvSpPr>
          <p:cNvPr id="6" name="monitor-notes-body-0">
            <a:extLst xmlns:a="http://schemas.openxmlformats.org/drawingml/2006/main">
              <a:ext uri="{FF2B5EF4-FFF2-40B4-BE49-F238E27FC236}">
                <a16:creationId xmlns:a16="http://schemas.microsoft.com/office/drawing/2014/main" id="{B77A9FD8-C21B-4140-88F1-27F08AD8F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860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3BD"/>
                </a:solidFill>
              </a:defRPr>
            </a:pPr>
            <a:r>
              <a:rPr sz="1275" b="0">
                <a:solidFill>
                  <a:srgbClr val="A7B3BD"/>
                </a:solidFill>
              </a:rPr>
              <a:t>Camera, AI service, trained model, and inference state are visible.</a:t>
            </a:r>
          </a:p>
        </p:txBody>
      </p:sp>
      <p:sp>
        <p:nvSpPr>
          <p:cNvPr id="7" name="monitor-notes-head-1">
            <a:extLst xmlns:a="http://schemas.openxmlformats.org/drawingml/2006/main">
              <a:ext uri="{FF2B5EF4-FFF2-40B4-BE49-F238E27FC236}">
                <a16:creationId xmlns:a16="http://schemas.microsoft.com/office/drawing/2014/main" id="{1C5D0BF7-4366-47B0-859F-4C2A3280E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9908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AFC"/>
                </a:solidFill>
              </a:defRPr>
            </a:pPr>
            <a:r>
              <a:rPr sz="1800" b="1">
                <a:solidFill>
                  <a:srgbClr val="F5FAFC"/>
                </a:solidFill>
              </a:rPr>
              <a:t>Feedback</a:t>
            </a:r>
          </a:p>
        </p:txBody>
      </p:sp>
      <p:sp>
        <p:nvSpPr>
          <p:cNvPr id="8" name="monitor-notes-body-1">
            <a:extLst xmlns:a="http://schemas.openxmlformats.org/drawingml/2006/main">
              <a:ext uri="{FF2B5EF4-FFF2-40B4-BE49-F238E27FC236}">
                <a16:creationId xmlns:a16="http://schemas.microsoft.com/office/drawing/2014/main" id="{DCC86872-3C92-4C2A-9FB6-3A5A47A07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3147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3BD"/>
                </a:solidFill>
              </a:defRPr>
            </a:pPr>
            <a:r>
              <a:rPr sz="1275" b="0">
                <a:solidFill>
                  <a:srgbClr val="A7B3BD"/>
                </a:solidFill>
              </a:rPr>
              <a:t>Prediction, confidence, model health, and event timeline are shown together.</a:t>
            </a:r>
          </a:p>
        </p:txBody>
      </p:sp>
      <p:sp>
        <p:nvSpPr>
          <p:cNvPr id="9" name="monitor-notes-head-2">
            <a:extLst xmlns:a="http://schemas.openxmlformats.org/drawingml/2006/main">
              <a:ext uri="{FF2B5EF4-FFF2-40B4-BE49-F238E27FC236}">
                <a16:creationId xmlns:a16="http://schemas.microsoft.com/office/drawing/2014/main" id="{07415F7E-0B68-4F0B-89B3-F0A9D0062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195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AFC"/>
                </a:solidFill>
              </a:defRPr>
            </a:pPr>
            <a:r>
              <a:rPr sz="1800" b="1">
                <a:solidFill>
                  <a:srgbClr val="F5FAFC"/>
                </a:solidFill>
              </a:rPr>
              <a:t>Control</a:t>
            </a:r>
          </a:p>
        </p:txBody>
      </p:sp>
      <p:sp>
        <p:nvSpPr>
          <p:cNvPr id="10" name="monitor-notes-body-2">
            <a:extLst xmlns:a="http://schemas.openxmlformats.org/drawingml/2006/main">
              <a:ext uri="{FF2B5EF4-FFF2-40B4-BE49-F238E27FC236}">
                <a16:creationId xmlns:a16="http://schemas.microsoft.com/office/drawing/2014/main" id="{7EC57AF9-F2C4-4677-9B0C-8B16395C3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3434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3BD"/>
                </a:solidFill>
              </a:defRPr>
            </a:pPr>
            <a:r>
              <a:rPr sz="1275" b="0">
                <a:solidFill>
                  <a:srgbClr val="A7B3BD"/>
                </a:solidFill>
              </a:rPr>
              <a:t>The user starts sessions, calibrates, exports, and changes views.</a:t>
            </a:r>
          </a:p>
        </p:txBody>
      </p:sp>
      <p:sp>
        <p:nvSpPr>
          <p:cNvPr id="11" name="footer-7">
            <a:extLst xmlns:a="http://schemas.openxmlformats.org/drawingml/2006/main">
              <a:ext uri="{FF2B5EF4-FFF2-40B4-BE49-F238E27FC236}">
                <a16:creationId xmlns:a16="http://schemas.microsoft.com/office/drawing/2014/main" id="{6CED9BD0-1261-4EA8-821C-AA7A9EBE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293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7B3BD"/>
                </a:solidFill>
              </a:defRPr>
            </a:pPr>
            <a:r>
              <a:rPr sz="1050" b="0">
                <a:solidFill>
                  <a:srgbClr val="A7B3BD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6547290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0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dark-background">
            <a:extLst xmlns:a="http://schemas.openxmlformats.org/drawingml/2006/main">
              <a:ext uri="{FF2B5EF4-FFF2-40B4-BE49-F238E27FC236}">
                <a16:creationId xmlns:a16="http://schemas.microsoft.com/office/drawing/2014/main" id="{DBEDF944-183B-45F1-BBA0-5A70613F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4"/>
          </a:solidFill>
          <a:ln xmlns:a="http://schemas.openxmlformats.org/drawingml/2006/main" w="0">
            <a:solidFill>
              <a:srgbClr val="071014"/>
            </a:solidFill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877747B1-C8C6-4261-877E-1C9162F73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7E8F9"/>
                </a:solidFill>
              </a:defRPr>
            </a:pPr>
            <a:r>
              <a:rPr sz="1275" b="1">
                <a:solidFill>
                  <a:srgbClr val="67E8F9"/>
                </a:solidFill>
              </a:rPr>
              <a:t>VISIONGUARD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2DADDF-7C1F-433D-8BBF-5CAF5FD4E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9810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AFC"/>
                </a:solidFill>
              </a:defRPr>
            </a:pPr>
            <a:r>
              <a:rPr sz="3150" b="1">
                <a:solidFill>
                  <a:srgbClr val="F5FAFC"/>
                </a:solidFill>
              </a:rPr>
              <a:t>Recording, mapping, and training stay connected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b81487acae4524"/>
          <a:srcRect xmlns:a="http://schemas.openxmlformats.org/drawingml/2006/main" l="0" t="8857" r="0" b="88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695450"/>
            <a:ext cx="7334250" cy="4191000"/>
          </a:xfrm>
          <a:prstGeom xmlns:a="http://schemas.openxmlformats.org/drawingml/2006/main" prst="roundRect">
            <a:avLst>
              <a:gd name="adj" fmla="val 1818"/>
            </a:avLst>
          </a:prstGeom>
        </p:spPr>
      </p:pic>
      <p:sp>
        <p:nvSpPr>
          <p:cNvPr id="5" name="gesture-notes-head-0">
            <a:extLst xmlns:a="http://schemas.openxmlformats.org/drawingml/2006/main">
              <a:ext uri="{FF2B5EF4-FFF2-40B4-BE49-F238E27FC236}">
                <a16:creationId xmlns:a16="http://schemas.microsoft.com/office/drawing/2014/main" id="{1240A30C-2200-4980-8699-9F24E640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240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AFC"/>
                </a:solidFill>
              </a:defRPr>
            </a:pPr>
            <a:r>
              <a:rPr sz="1800" b="1">
                <a:solidFill>
                  <a:srgbClr val="F5FAFC"/>
                </a:solidFill>
              </a:rPr>
              <a:t>Six action types</a:t>
            </a:r>
          </a:p>
        </p:txBody>
      </p:sp>
      <p:sp>
        <p:nvSpPr>
          <p:cNvPr id="6" name="gesture-notes-body-0">
            <a:extLst xmlns:a="http://schemas.openxmlformats.org/drawingml/2006/main">
              <a:ext uri="{FF2B5EF4-FFF2-40B4-BE49-F238E27FC236}">
                <a16:creationId xmlns:a16="http://schemas.microsoft.com/office/drawing/2014/main" id="{92F99B1D-CF1D-4C16-A35A-A38B4A4A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4790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3BD"/>
                </a:solidFill>
              </a:defRPr>
            </a:pPr>
            <a:r>
              <a:rPr sz="1275" b="0">
                <a:solidFill>
                  <a:srgbClr val="A7B3BD"/>
                </a:solidFill>
              </a:rPr>
              <a:t>Open app, volume down, volume up, mute, shortcut, and mouse click.</a:t>
            </a:r>
          </a:p>
        </p:txBody>
      </p:sp>
      <p:sp>
        <p:nvSpPr>
          <p:cNvPr id="7" name="gesture-notes-head-1">
            <a:extLst xmlns:a="http://schemas.openxmlformats.org/drawingml/2006/main">
              <a:ext uri="{FF2B5EF4-FFF2-40B4-BE49-F238E27FC236}">
                <a16:creationId xmlns:a16="http://schemas.microsoft.com/office/drawing/2014/main" id="{44C07F27-0FC4-4A11-A395-893F8209B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9908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AFC"/>
                </a:solidFill>
              </a:defRPr>
            </a:pPr>
            <a:r>
              <a:rPr sz="1800" b="1">
                <a:solidFill>
                  <a:srgbClr val="F5FAFC"/>
                </a:solidFill>
              </a:rPr>
              <a:t>Sample rule</a:t>
            </a:r>
          </a:p>
        </p:txBody>
      </p:sp>
      <p:sp>
        <p:nvSpPr>
          <p:cNvPr id="8" name="gesture-notes-body-1">
            <a:extLst xmlns:a="http://schemas.openxmlformats.org/drawingml/2006/main">
              <a:ext uri="{FF2B5EF4-FFF2-40B4-BE49-F238E27FC236}">
                <a16:creationId xmlns:a16="http://schemas.microsoft.com/office/drawing/2014/main" id="{35EA8028-4BC1-495F-8938-2E6A1D3D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31470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3BD"/>
                </a:solidFill>
              </a:defRPr>
            </a:pPr>
            <a:r>
              <a:rPr sz="1275" b="0">
                <a:solidFill>
                  <a:srgbClr val="A7B3BD"/>
                </a:solidFill>
              </a:rPr>
              <a:t>A gesture needs 12 captured hand samples before saving.</a:t>
            </a:r>
          </a:p>
        </p:txBody>
      </p:sp>
      <p:sp>
        <p:nvSpPr>
          <p:cNvPr id="9" name="gesture-notes-head-2">
            <a:extLst xmlns:a="http://schemas.openxmlformats.org/drawingml/2006/main">
              <a:ext uri="{FF2B5EF4-FFF2-40B4-BE49-F238E27FC236}">
                <a16:creationId xmlns:a16="http://schemas.microsoft.com/office/drawing/2014/main" id="{3553B960-E6EF-4EC8-B85B-2240FFFBB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576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AFC"/>
                </a:solidFill>
              </a:defRPr>
            </a:pPr>
            <a:r>
              <a:rPr sz="1800" b="1">
                <a:solidFill>
                  <a:srgbClr val="F5FAFC"/>
                </a:solidFill>
              </a:rPr>
              <a:t>Training state</a:t>
            </a:r>
          </a:p>
        </p:txBody>
      </p:sp>
      <p:sp>
        <p:nvSpPr>
          <p:cNvPr id="10" name="gesture-notes-body-2">
            <a:extLst xmlns:a="http://schemas.openxmlformats.org/drawingml/2006/main">
              <a:ext uri="{FF2B5EF4-FFF2-40B4-BE49-F238E27FC236}">
                <a16:creationId xmlns:a16="http://schemas.microsoft.com/office/drawing/2014/main" id="{C5E0E54D-2D62-481E-8BB5-241B0BB13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38150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3BD"/>
                </a:solidFill>
              </a:defRPr>
            </a:pPr>
            <a:r>
              <a:rPr sz="1275" b="0">
                <a:solidFill>
                  <a:srgbClr val="A7B3BD"/>
                </a:solidFill>
              </a:rPr>
              <a:t>Saved gestures move from draft or ready into training and trained states.</a:t>
            </a:r>
          </a:p>
        </p:txBody>
      </p:sp>
      <p:sp>
        <p:nvSpPr>
          <p:cNvPr id="11" name="footer-8">
            <a:extLst xmlns:a="http://schemas.openxmlformats.org/drawingml/2006/main">
              <a:ext uri="{FF2B5EF4-FFF2-40B4-BE49-F238E27FC236}">
                <a16:creationId xmlns:a16="http://schemas.microsoft.com/office/drawing/2014/main" id="{4F376EF7-F66A-4214-9B11-4231CA0B7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293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7B3BD"/>
                </a:solidFill>
              </a:defRPr>
            </a:pPr>
            <a:r>
              <a:rPr sz="1050" b="0">
                <a:solidFill>
                  <a:srgbClr val="A7B3BD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20646747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0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dark-background">
            <a:extLst xmlns:a="http://schemas.openxmlformats.org/drawingml/2006/main">
              <a:ext uri="{FF2B5EF4-FFF2-40B4-BE49-F238E27FC236}">
                <a16:creationId xmlns:a16="http://schemas.microsoft.com/office/drawing/2014/main" id="{F89F1D63-0723-4B88-96CA-D9BBEA9F9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4"/>
          </a:solidFill>
          <a:ln xmlns:a="http://schemas.openxmlformats.org/drawingml/2006/main" w="0">
            <a:solidFill>
              <a:srgbClr val="071014"/>
            </a:solidFill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8A70D7CD-B0E7-4545-9684-6F793883F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7E8F9"/>
                </a:solidFill>
              </a:defRPr>
            </a:pPr>
            <a:r>
              <a:rPr sz="1275" b="1">
                <a:solidFill>
                  <a:srgbClr val="67E8F9"/>
                </a:solidFill>
              </a:rPr>
              <a:t>VISIONGUARD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6718347-0FEC-4C32-84B7-41A2E49AA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9810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AFC"/>
                </a:solidFill>
              </a:defRPr>
            </a:pPr>
            <a:r>
              <a:rPr sz="3150" b="1">
                <a:solidFill>
                  <a:srgbClr val="F5FAFC"/>
                </a:solidFill>
              </a:rPr>
              <a:t>A small contract drives model operations</a:t>
            </a:r>
          </a:p>
        </p:txBody>
      </p:sp>
      <p:sp>
        <p:nvSpPr>
          <p:cNvPr id="4" name="contract-row-0">
            <a:extLst xmlns:a="http://schemas.openxmlformats.org/drawingml/2006/main">
              <a:ext uri="{FF2B5EF4-FFF2-40B4-BE49-F238E27FC236}">
                <a16:creationId xmlns:a16="http://schemas.microsoft.com/office/drawing/2014/main" id="{4B0CEF07-DA13-4338-9111-3F17DD6F1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9906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1D23"/>
          </a:solidFill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5" name="contract-head-0">
            <a:extLst xmlns:a="http://schemas.openxmlformats.org/drawingml/2006/main">
              <a:ext uri="{FF2B5EF4-FFF2-40B4-BE49-F238E27FC236}">
                <a16:creationId xmlns:a16="http://schemas.microsoft.com/office/drawing/2014/main" id="{321105DE-5DC8-4080-92AE-D6114871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AFC"/>
                </a:solidFill>
              </a:defRPr>
            </a:pPr>
            <a:r>
              <a:rPr sz="1650" b="1">
                <a:solidFill>
                  <a:srgbClr val="F5FAFC"/>
                </a:solidFill>
              </a:rPr>
              <a:t>Dataset</a:t>
            </a:r>
          </a:p>
        </p:txBody>
      </p:sp>
      <p:sp>
        <p:nvSpPr>
          <p:cNvPr id="6" name="contract-body-0">
            <a:extLst xmlns:a="http://schemas.openxmlformats.org/drawingml/2006/main">
              <a:ext uri="{FF2B5EF4-FFF2-40B4-BE49-F238E27FC236}">
                <a16:creationId xmlns:a16="http://schemas.microsoft.com/office/drawing/2014/main" id="{0CFD76DB-ECEB-4922-BDAB-A69E3485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819275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7B3BD"/>
                </a:solidFill>
              </a:defRPr>
            </a:pPr>
            <a:r>
              <a:rPr sz="1500" b="0">
                <a:solidFill>
                  <a:srgbClr val="A7B3BD"/>
                </a:solidFill>
              </a:rPr>
              <a:t>Create dataset from gesture labels and sample references</a:t>
            </a:r>
          </a:p>
        </p:txBody>
      </p:sp>
      <p:sp>
        <p:nvSpPr>
          <p:cNvPr id="7" name="contract-row-1">
            <a:extLst xmlns:a="http://schemas.openxmlformats.org/drawingml/2006/main">
              <a:ext uri="{FF2B5EF4-FFF2-40B4-BE49-F238E27FC236}">
                <a16:creationId xmlns:a16="http://schemas.microsoft.com/office/drawing/2014/main" id="{D4A07B0A-9962-452D-B202-57E1988BE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9906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71014"/>
          </a:solidFill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8" name="contract-head-1">
            <a:extLst xmlns:a="http://schemas.openxmlformats.org/drawingml/2006/main">
              <a:ext uri="{FF2B5EF4-FFF2-40B4-BE49-F238E27FC236}">
                <a16:creationId xmlns:a16="http://schemas.microsoft.com/office/drawing/2014/main" id="{DA23B7A3-7207-4A90-89D2-3880483B9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AFC"/>
                </a:solidFill>
              </a:defRPr>
            </a:pPr>
            <a:r>
              <a:rPr sz="1650" b="1">
                <a:solidFill>
                  <a:srgbClr val="F5FAFC"/>
                </a:solidFill>
              </a:rPr>
              <a:t>Training job</a:t>
            </a:r>
          </a:p>
        </p:txBody>
      </p:sp>
      <p:sp>
        <p:nvSpPr>
          <p:cNvPr id="9" name="contract-body-1">
            <a:extLst xmlns:a="http://schemas.openxmlformats.org/drawingml/2006/main">
              <a:ext uri="{FF2B5EF4-FFF2-40B4-BE49-F238E27FC236}">
                <a16:creationId xmlns:a16="http://schemas.microsoft.com/office/drawing/2014/main" id="{B8FB5239-1EF9-4DD7-9161-20DC7A4B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09825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7B3BD"/>
                </a:solidFill>
              </a:defRPr>
            </a:pPr>
            <a:r>
              <a:rPr sz="1500" b="0">
                <a:solidFill>
                  <a:srgbClr val="A7B3BD"/>
                </a:solidFill>
              </a:rPr>
              <a:t>Queue, run, poll, and complete model training</a:t>
            </a:r>
          </a:p>
        </p:txBody>
      </p:sp>
      <p:sp>
        <p:nvSpPr>
          <p:cNvPr id="10" name="contract-row-2">
            <a:extLst xmlns:a="http://schemas.openxmlformats.org/drawingml/2006/main">
              <a:ext uri="{FF2B5EF4-FFF2-40B4-BE49-F238E27FC236}">
                <a16:creationId xmlns:a16="http://schemas.microsoft.com/office/drawing/2014/main" id="{0E1042BC-E6F0-45B9-AFE8-AEAF23F0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9906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1D23"/>
          </a:solidFill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11" name="contract-head-2">
            <a:extLst xmlns:a="http://schemas.openxmlformats.org/drawingml/2006/main">
              <a:ext uri="{FF2B5EF4-FFF2-40B4-BE49-F238E27FC236}">
                <a16:creationId xmlns:a16="http://schemas.microsoft.com/office/drawing/2014/main" id="{2DB765EE-3EA6-4331-BA1C-3173F4180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AFC"/>
                </a:solidFill>
              </a:defRPr>
            </a:pPr>
            <a:r>
              <a:rPr sz="1650" b="1">
                <a:solidFill>
                  <a:srgbClr val="F5FAFC"/>
                </a:solidFill>
              </a:rPr>
              <a:t>Model status</a:t>
            </a:r>
          </a:p>
        </p:txBody>
      </p:sp>
      <p:sp>
        <p:nvSpPr>
          <p:cNvPr id="12" name="contract-body-2">
            <a:extLst xmlns:a="http://schemas.openxmlformats.org/drawingml/2006/main">
              <a:ext uri="{FF2B5EF4-FFF2-40B4-BE49-F238E27FC236}">
                <a16:creationId xmlns:a16="http://schemas.microsoft.com/office/drawing/2014/main" id="{C19E581B-6DD3-47DF-BA03-AEDBCB90E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00375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7B3BD"/>
                </a:solidFill>
              </a:defRPr>
            </a:pPr>
            <a:r>
              <a:rPr sz="1500" b="0">
                <a:solidFill>
                  <a:srgbClr val="A7B3BD"/>
                </a:solidFill>
              </a:rPr>
              <a:t>Report not-trained, loading, ready, degraded, or error</a:t>
            </a:r>
          </a:p>
        </p:txBody>
      </p:sp>
      <p:sp>
        <p:nvSpPr>
          <p:cNvPr id="13" name="contract-row-3">
            <a:extLst xmlns:a="http://schemas.openxmlformats.org/drawingml/2006/main">
              <a:ext uri="{FF2B5EF4-FFF2-40B4-BE49-F238E27FC236}">
                <a16:creationId xmlns:a16="http://schemas.microsoft.com/office/drawing/2014/main" id="{84E25CB4-EEA6-4999-96E5-3A408D33C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9906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71014"/>
          </a:solidFill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14" name="contract-head-3">
            <a:extLst xmlns:a="http://schemas.openxmlformats.org/drawingml/2006/main">
              <a:ext uri="{FF2B5EF4-FFF2-40B4-BE49-F238E27FC236}">
                <a16:creationId xmlns:a16="http://schemas.microsoft.com/office/drawing/2014/main" id="{BB43388C-514C-46E4-983E-293D174CC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814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AFC"/>
                </a:solidFill>
              </a:defRPr>
            </a:pPr>
            <a:r>
              <a:rPr sz="1650" b="1">
                <a:solidFill>
                  <a:srgbClr val="F5FAFC"/>
                </a:solidFill>
              </a:rPr>
              <a:t>Hand presence</a:t>
            </a:r>
          </a:p>
        </p:txBody>
      </p:sp>
      <p:sp>
        <p:nvSpPr>
          <p:cNvPr id="15" name="contract-body-3">
            <a:extLst xmlns:a="http://schemas.openxmlformats.org/drawingml/2006/main">
              <a:ext uri="{FF2B5EF4-FFF2-40B4-BE49-F238E27FC236}">
                <a16:creationId xmlns:a16="http://schemas.microsoft.com/office/drawing/2014/main" id="{DAA2525C-A6FD-4DBB-8047-78A438077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590925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7B3BD"/>
                </a:solidFill>
              </a:defRPr>
            </a:pPr>
            <a:r>
              <a:rPr sz="1500" b="0">
                <a:solidFill>
                  <a:srgbClr val="A7B3BD"/>
                </a:solidFill>
              </a:rPr>
              <a:t>Reject frames that do not contain a detectable hand</a:t>
            </a:r>
          </a:p>
        </p:txBody>
      </p:sp>
      <p:sp>
        <p:nvSpPr>
          <p:cNvPr id="16" name="contract-row-4">
            <a:extLst xmlns:a="http://schemas.openxmlformats.org/drawingml/2006/main">
              <a:ext uri="{FF2B5EF4-FFF2-40B4-BE49-F238E27FC236}">
                <a16:creationId xmlns:a16="http://schemas.microsoft.com/office/drawing/2014/main" id="{910FFEB9-619F-43A5-9DBF-B20BCB910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9906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1D23"/>
          </a:solidFill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17" name="contract-head-4">
            <a:extLst xmlns:a="http://schemas.openxmlformats.org/drawingml/2006/main">
              <a:ext uri="{FF2B5EF4-FFF2-40B4-BE49-F238E27FC236}">
                <a16:creationId xmlns:a16="http://schemas.microsoft.com/office/drawing/2014/main" id="{CDB19EF1-5BF5-4980-A8CA-908C8B98D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AFC"/>
                </a:solidFill>
              </a:defRPr>
            </a:pPr>
            <a:r>
              <a:rPr sz="1650" b="1">
                <a:solidFill>
                  <a:srgbClr val="F5FAFC"/>
                </a:solidFill>
              </a:rPr>
              <a:t>Inference</a:t>
            </a:r>
          </a:p>
        </p:txBody>
      </p:sp>
      <p:sp>
        <p:nvSpPr>
          <p:cNvPr id="18" name="contract-body-4">
            <a:extLst xmlns:a="http://schemas.openxmlformats.org/drawingml/2006/main">
              <a:ext uri="{FF2B5EF4-FFF2-40B4-BE49-F238E27FC236}">
                <a16:creationId xmlns:a16="http://schemas.microsoft.com/office/drawing/2014/main" id="{F12FD6D6-2859-4202-9E04-62380FC1C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181475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7B3BD"/>
                </a:solidFill>
              </a:defRPr>
            </a:pPr>
            <a:r>
              <a:rPr sz="1500" b="0">
                <a:solidFill>
                  <a:srgbClr val="A7B3BD"/>
                </a:solidFill>
              </a:rPr>
              <a:t>Return predictions, best match, confidence, and latency</a:t>
            </a:r>
          </a:p>
        </p:txBody>
      </p:sp>
      <p:sp>
        <p:nvSpPr>
          <p:cNvPr id="19" name="contract-row-5">
            <a:extLst xmlns:a="http://schemas.openxmlformats.org/drawingml/2006/main">
              <a:ext uri="{FF2B5EF4-FFF2-40B4-BE49-F238E27FC236}">
                <a16:creationId xmlns:a16="http://schemas.microsoft.com/office/drawing/2014/main" id="{236AC1EF-EE09-4591-9869-F0DBB307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48200"/>
            <a:ext cx="9906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71014"/>
          </a:solidFill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20" name="contract-head-5">
            <a:extLst xmlns:a="http://schemas.openxmlformats.org/drawingml/2006/main">
              <a:ext uri="{FF2B5EF4-FFF2-40B4-BE49-F238E27FC236}">
                <a16:creationId xmlns:a16="http://schemas.microsoft.com/office/drawing/2014/main" id="{065EFCD4-D416-407D-9E2D-EF1F3EF83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AFC"/>
                </a:solidFill>
              </a:defRPr>
            </a:pPr>
            <a:r>
              <a:rPr sz="1650" b="1">
                <a:solidFill>
                  <a:srgbClr val="F5FAFC"/>
                </a:solidFill>
              </a:rPr>
              <a:t>Authentication</a:t>
            </a:r>
          </a:p>
        </p:txBody>
      </p:sp>
      <p:sp>
        <p:nvSpPr>
          <p:cNvPr id="21" name="contract-body-5">
            <a:extLst xmlns:a="http://schemas.openxmlformats.org/drawingml/2006/main">
              <a:ext uri="{FF2B5EF4-FFF2-40B4-BE49-F238E27FC236}">
                <a16:creationId xmlns:a16="http://schemas.microsoft.com/office/drawing/2014/main" id="{27323BD4-FCD7-4070-92EE-2FE3C25D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72025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7B3BD"/>
                </a:solidFill>
              </a:defRPr>
            </a:pPr>
            <a:r>
              <a:rPr sz="1500" b="0">
                <a:solidFill>
                  <a:srgbClr val="A7B3BD"/>
                </a:solidFill>
              </a:rPr>
              <a:t>Return face and presence state for the active session</a:t>
            </a:r>
          </a:p>
        </p:txBody>
      </p:sp>
      <p:sp>
        <p:nvSpPr>
          <p:cNvPr id="22" name="footer-9">
            <a:extLst xmlns:a="http://schemas.openxmlformats.org/drawingml/2006/main">
              <a:ext uri="{FF2B5EF4-FFF2-40B4-BE49-F238E27FC236}">
                <a16:creationId xmlns:a16="http://schemas.microsoft.com/office/drawing/2014/main" id="{D53DEE1F-4DDD-41E5-BB6E-8F910D9E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293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7B3BD"/>
                </a:solidFill>
              </a:defRPr>
            </a:pPr>
            <a:r>
              <a:rPr sz="1050" b="0">
                <a:solidFill>
                  <a:srgbClr val="A7B3BD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5179458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0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dark-background">
            <a:extLst xmlns:a="http://schemas.openxmlformats.org/drawingml/2006/main">
              <a:ext uri="{FF2B5EF4-FFF2-40B4-BE49-F238E27FC236}">
                <a16:creationId xmlns:a16="http://schemas.microsoft.com/office/drawing/2014/main" id="{D5861845-8531-4151-9BBC-1B270EBDE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4"/>
          </a:solidFill>
          <a:ln xmlns:a="http://schemas.openxmlformats.org/drawingml/2006/main" w="0">
            <a:solidFill>
              <a:srgbClr val="071014"/>
            </a:solidFill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A6CD9EA0-D198-4EF4-BDA7-A1772F06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7E8F9"/>
                </a:solidFill>
              </a:defRPr>
            </a:pPr>
            <a:r>
              <a:rPr sz="1275" b="1">
                <a:solidFill>
                  <a:srgbClr val="67E8F9"/>
                </a:solidFill>
              </a:rPr>
              <a:t>VISIONGUARD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CB8572E-0B46-402A-B227-57B93D588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9810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AFC"/>
                </a:solidFill>
              </a:defRPr>
            </a:pPr>
            <a:r>
              <a:rPr sz="3150" b="1">
                <a:solidFill>
                  <a:srgbClr val="F5FAFC"/>
                </a:solidFill>
              </a:rPr>
              <a:t>The prototype shows a local pipeline</a:t>
            </a:r>
          </a:p>
        </p:txBody>
      </p:sp>
      <p:sp>
        <p:nvSpPr>
          <p:cNvPr id="4" name="result-panel-0">
            <a:extLst xmlns:a="http://schemas.openxmlformats.org/drawingml/2006/main">
              <a:ext uri="{FF2B5EF4-FFF2-40B4-BE49-F238E27FC236}">
                <a16:creationId xmlns:a16="http://schemas.microsoft.com/office/drawing/2014/main" id="{88DC330B-1FE1-4D43-AD9B-DB564D7B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3048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0E1B21"/>
          </a:solidFill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5" name="result-count-0">
            <a:extLst xmlns:a="http://schemas.openxmlformats.org/drawingml/2006/main">
              <a:ext uri="{FF2B5EF4-FFF2-40B4-BE49-F238E27FC236}">
                <a16:creationId xmlns:a16="http://schemas.microsoft.com/office/drawing/2014/main" id="{DE9AB019-D3D9-4024-9294-36CB9455D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19350"/>
            <a:ext cx="95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67E8F9"/>
                </a:solidFill>
              </a:defRPr>
            </a:pPr>
            <a:r>
              <a:rPr sz="4200" b="1">
                <a:solidFill>
                  <a:srgbClr val="67E8F9"/>
                </a:solidFill>
              </a:rPr>
              <a:t>5</a:t>
            </a:r>
          </a:p>
        </p:txBody>
      </p:sp>
      <p:sp>
        <p:nvSpPr>
          <p:cNvPr id="6" name="result-head-0">
            <a:extLst xmlns:a="http://schemas.openxmlformats.org/drawingml/2006/main">
              <a:ext uri="{FF2B5EF4-FFF2-40B4-BE49-F238E27FC236}">
                <a16:creationId xmlns:a16="http://schemas.microsoft.com/office/drawing/2014/main" id="{21FEAE7A-C4C4-45F8-9E5A-CEC25884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337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AFC"/>
                </a:solidFill>
              </a:defRPr>
            </a:pPr>
            <a:r>
              <a:rPr sz="1950" b="1">
                <a:solidFill>
                  <a:srgbClr val="F5FAFC"/>
                </a:solidFill>
              </a:rPr>
              <a:t>App views</a:t>
            </a:r>
          </a:p>
        </p:txBody>
      </p:sp>
      <p:sp>
        <p:nvSpPr>
          <p:cNvPr id="7" name="result-body-0">
            <a:extLst xmlns:a="http://schemas.openxmlformats.org/drawingml/2006/main">
              <a:ext uri="{FF2B5EF4-FFF2-40B4-BE49-F238E27FC236}">
                <a16:creationId xmlns:a16="http://schemas.microsoft.com/office/drawing/2014/main" id="{F372284C-248B-40BC-BD79-05ED15B85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481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3BD"/>
                </a:solidFill>
              </a:defRPr>
            </a:pPr>
            <a:r>
              <a:rPr sz="1350" b="0">
                <a:solidFill>
                  <a:srgbClr val="A7B3BD"/>
                </a:solidFill>
              </a:rPr>
              <a:t>Monitor, Gestures, Identity, Models, Settings</a:t>
            </a:r>
          </a:p>
        </p:txBody>
      </p:sp>
      <p:sp>
        <p:nvSpPr>
          <p:cNvPr id="8" name="result-panel-1">
            <a:extLst xmlns:a="http://schemas.openxmlformats.org/drawingml/2006/main">
              <a:ext uri="{FF2B5EF4-FFF2-40B4-BE49-F238E27FC236}">
                <a16:creationId xmlns:a16="http://schemas.microsoft.com/office/drawing/2014/main" id="{DB63D255-7CFE-419A-A27B-3D8B0FA1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76450"/>
            <a:ext cx="3048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0E1B21"/>
          </a:solidFill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9" name="result-count-1">
            <a:extLst xmlns:a="http://schemas.openxmlformats.org/drawingml/2006/main">
              <a:ext uri="{FF2B5EF4-FFF2-40B4-BE49-F238E27FC236}">
                <a16:creationId xmlns:a16="http://schemas.microsoft.com/office/drawing/2014/main" id="{B5757969-A2E5-4D07-A82A-839B0CD4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19350"/>
            <a:ext cx="95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67E8F9"/>
                </a:solidFill>
              </a:defRPr>
            </a:pPr>
            <a:r>
              <a:rPr sz="4200" b="1">
                <a:solidFill>
                  <a:srgbClr val="67E8F9"/>
                </a:solidFill>
              </a:rPr>
              <a:t>6</a:t>
            </a:r>
          </a:p>
        </p:txBody>
      </p:sp>
      <p:sp>
        <p:nvSpPr>
          <p:cNvPr id="10" name="result-head-1">
            <a:extLst xmlns:a="http://schemas.openxmlformats.org/drawingml/2006/main">
              <a:ext uri="{FF2B5EF4-FFF2-40B4-BE49-F238E27FC236}">
                <a16:creationId xmlns:a16="http://schemas.microsoft.com/office/drawing/2014/main" id="{D32065CE-2642-4DC5-9CBB-19BF8975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337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AFC"/>
                </a:solidFill>
              </a:defRPr>
            </a:pPr>
            <a:r>
              <a:rPr sz="1950" b="1">
                <a:solidFill>
                  <a:srgbClr val="F5FAFC"/>
                </a:solidFill>
              </a:rPr>
              <a:t>Action types</a:t>
            </a:r>
          </a:p>
        </p:txBody>
      </p:sp>
      <p:sp>
        <p:nvSpPr>
          <p:cNvPr id="11" name="result-body-1">
            <a:extLst xmlns:a="http://schemas.openxmlformats.org/drawingml/2006/main">
              <a:ext uri="{FF2B5EF4-FFF2-40B4-BE49-F238E27FC236}">
                <a16:creationId xmlns:a16="http://schemas.microsoft.com/office/drawing/2014/main" id="{08F365AA-EF43-4A5D-9363-05892E937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481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3BD"/>
                </a:solidFill>
              </a:defRPr>
            </a:pPr>
            <a:r>
              <a:rPr sz="1350" b="0">
                <a:solidFill>
                  <a:srgbClr val="A7B3BD"/>
                </a:solidFill>
              </a:rPr>
              <a:t>Application, audio, keyboard, and mouse actions</a:t>
            </a:r>
          </a:p>
        </p:txBody>
      </p:sp>
      <p:sp>
        <p:nvSpPr>
          <p:cNvPr id="12" name="result-panel-2">
            <a:extLst xmlns:a="http://schemas.openxmlformats.org/drawingml/2006/main">
              <a:ext uri="{FF2B5EF4-FFF2-40B4-BE49-F238E27FC236}">
                <a16:creationId xmlns:a16="http://schemas.microsoft.com/office/drawing/2014/main" id="{10017648-DF58-4FEA-893F-33667D14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76450"/>
            <a:ext cx="3048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0B2F3A"/>
          </a:solidFill>
          <a:ln xmlns:a="http://schemas.openxmlformats.org/drawingml/2006/main" w="9525">
            <a:solidFill>
              <a:srgbClr val="254854"/>
            </a:solidFill>
            <a:prstDash val="solid"/>
          </a:ln>
        </p:spPr>
      </p:sp>
      <p:sp>
        <p:nvSpPr>
          <p:cNvPr id="13" name="result-count-2">
            <a:extLst xmlns:a="http://schemas.openxmlformats.org/drawingml/2006/main">
              <a:ext uri="{FF2B5EF4-FFF2-40B4-BE49-F238E27FC236}">
                <a16:creationId xmlns:a16="http://schemas.microsoft.com/office/drawing/2014/main" id="{D2F99273-D8FF-431A-8609-C4F40A037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19350"/>
            <a:ext cx="95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67E8F9"/>
                </a:solidFill>
              </a:defRPr>
            </a:pPr>
            <a:r>
              <a:rPr sz="4200" b="1">
                <a:solidFill>
                  <a:srgbClr val="67E8F9"/>
                </a:solidFill>
              </a:rPr>
              <a:t>8</a:t>
            </a:r>
          </a:p>
        </p:txBody>
      </p:sp>
      <p:sp>
        <p:nvSpPr>
          <p:cNvPr id="14" name="result-head-2">
            <a:extLst xmlns:a="http://schemas.openxmlformats.org/drawingml/2006/main">
              <a:ext uri="{FF2B5EF4-FFF2-40B4-BE49-F238E27FC236}">
                <a16:creationId xmlns:a16="http://schemas.microsoft.com/office/drawing/2014/main" id="{C0E3E9CB-4F7C-403D-9C17-9ED40F633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337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5FAFC"/>
                </a:solidFill>
              </a:defRPr>
            </a:pPr>
            <a:r>
              <a:rPr sz="1950" b="1">
                <a:solidFill>
                  <a:srgbClr val="F5FAFC"/>
                </a:solidFill>
              </a:rPr>
              <a:t>Contract operations</a:t>
            </a:r>
          </a:p>
        </p:txBody>
      </p:sp>
      <p:sp>
        <p:nvSpPr>
          <p:cNvPr id="15" name="result-body-2">
            <a:extLst xmlns:a="http://schemas.openxmlformats.org/drawingml/2006/main">
              <a:ext uri="{FF2B5EF4-FFF2-40B4-BE49-F238E27FC236}">
                <a16:creationId xmlns:a16="http://schemas.microsoft.com/office/drawing/2014/main" id="{9291C89A-9127-46CC-BC28-30271DF2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48100"/>
            <a:ext cx="247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3BD"/>
                </a:solidFill>
              </a:defRPr>
            </a:pPr>
            <a:r>
              <a:rPr sz="1350" b="0">
                <a:solidFill>
                  <a:srgbClr val="A7B3BD"/>
                </a:solidFill>
              </a:rPr>
              <a:t>Dataset, training, model status, hand checks, inference, authentication</a:t>
            </a:r>
          </a:p>
        </p:txBody>
      </p:sp>
      <p:sp>
        <p:nvSpPr>
          <p:cNvPr id="16" name="footer-10">
            <a:extLst xmlns:a="http://schemas.openxmlformats.org/drawingml/2006/main">
              <a:ext uri="{FF2B5EF4-FFF2-40B4-BE49-F238E27FC236}">
                <a16:creationId xmlns:a16="http://schemas.microsoft.com/office/drawing/2014/main" id="{E48FFB10-5D89-4744-9620-A62D91CF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293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7B3BD"/>
                </a:solidFill>
              </a:defRPr>
            </a:pPr>
            <a:r>
              <a:rPr sz="1050" b="0">
                <a:solidFill>
                  <a:srgbClr val="A7B3BD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56033396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0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dark-background">
            <a:extLst xmlns:a="http://schemas.openxmlformats.org/drawingml/2006/main">
              <a:ext uri="{FF2B5EF4-FFF2-40B4-BE49-F238E27FC236}">
                <a16:creationId xmlns:a16="http://schemas.microsoft.com/office/drawing/2014/main" id="{ED6585D7-ABE9-4780-925D-C8AF95357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4"/>
          </a:solidFill>
          <a:ln xmlns:a="http://schemas.openxmlformats.org/drawingml/2006/main" w="0">
            <a:solidFill>
              <a:srgbClr val="071014"/>
            </a:solidFill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D032C8E5-BC40-4A89-B099-C7C657E8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7E8F9"/>
                </a:solidFill>
              </a:defRPr>
            </a:pPr>
            <a:r>
              <a:rPr sz="1275" b="1">
                <a:solidFill>
                  <a:srgbClr val="67E8F9"/>
                </a:solidFill>
              </a:rPr>
              <a:t>VISIONGUARD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C9678D0-7C1A-44F5-86BE-31F9A06E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9810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AFC"/>
                </a:solidFill>
              </a:defRPr>
            </a:pPr>
            <a:r>
              <a:rPr sz="3150" b="1">
                <a:solidFill>
                  <a:srgbClr val="F5FAFC"/>
                </a:solidFill>
              </a:rPr>
              <a:t>Next steps: identity, models, and containers</a:t>
            </a:r>
          </a:p>
        </p:txBody>
      </p:sp>
      <p:sp>
        <p:nvSpPr>
          <p:cNvPr id="4" name="future-head-0">
            <a:extLst xmlns:a="http://schemas.openxmlformats.org/drawingml/2006/main">
              <a:ext uri="{FF2B5EF4-FFF2-40B4-BE49-F238E27FC236}">
                <a16:creationId xmlns:a16="http://schemas.microsoft.com/office/drawing/2014/main" id="{64155252-F756-4AD5-81F6-2C2603168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AFC"/>
                </a:solidFill>
              </a:defRPr>
            </a:pPr>
            <a:r>
              <a:rPr sz="1800" b="1">
                <a:solidFill>
                  <a:srgbClr val="F5FAFC"/>
                </a:solidFill>
              </a:rPr>
              <a:t>Continuous authentication</a:t>
            </a:r>
          </a:p>
        </p:txBody>
      </p:sp>
      <p:sp>
        <p:nvSpPr>
          <p:cNvPr id="5" name="future-body-0">
            <a:extLst xmlns:a="http://schemas.openxmlformats.org/drawingml/2006/main">
              <a:ext uri="{FF2B5EF4-FFF2-40B4-BE49-F238E27FC236}">
                <a16:creationId xmlns:a16="http://schemas.microsoft.com/office/drawing/2014/main" id="{86C4491C-A593-4A34-992A-DF4F74EBD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383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3BD"/>
                </a:solidFill>
              </a:defRPr>
            </a:pPr>
            <a:r>
              <a:rPr sz="1275" b="0">
                <a:solidFill>
                  <a:srgbClr val="A7B3BD"/>
                </a:solidFill>
              </a:rPr>
              <a:t>Add identity-specific signals beyond gesture recognition.</a:t>
            </a:r>
          </a:p>
        </p:txBody>
      </p:sp>
      <p:sp>
        <p:nvSpPr>
          <p:cNvPr id="6" name="future-head-1">
            <a:extLst xmlns:a="http://schemas.openxmlformats.org/drawingml/2006/main">
              <a:ext uri="{FF2B5EF4-FFF2-40B4-BE49-F238E27FC236}">
                <a16:creationId xmlns:a16="http://schemas.microsoft.com/office/drawing/2014/main" id="{D5D1E1E4-8497-4A70-9578-8E45F6872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AFC"/>
                </a:solidFill>
              </a:defRPr>
            </a:pPr>
            <a:r>
              <a:rPr sz="1800" b="1">
                <a:solidFill>
                  <a:srgbClr val="F5FAFC"/>
                </a:solidFill>
              </a:rPr>
              <a:t>Temporal gesture model</a:t>
            </a:r>
          </a:p>
        </p:txBody>
      </p:sp>
      <p:sp>
        <p:nvSpPr>
          <p:cNvPr id="7" name="future-body-1">
            <a:extLst xmlns:a="http://schemas.openxmlformats.org/drawingml/2006/main">
              <a:ext uri="{FF2B5EF4-FFF2-40B4-BE49-F238E27FC236}">
                <a16:creationId xmlns:a16="http://schemas.microsoft.com/office/drawing/2014/main" id="{BCC4E32D-D87B-4ECC-9184-1D5BACBC5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9560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3BD"/>
                </a:solidFill>
              </a:defRPr>
            </a:pPr>
            <a:r>
              <a:rPr sz="1275" b="0">
                <a:solidFill>
                  <a:srgbClr val="A7B3BD"/>
                </a:solidFill>
              </a:rPr>
              <a:t>Use frame sequences for dynamic movements like swipes.</a:t>
            </a:r>
          </a:p>
        </p:txBody>
      </p:sp>
      <p:sp>
        <p:nvSpPr>
          <p:cNvPr id="8" name="future-head-2">
            <a:extLst xmlns:a="http://schemas.openxmlformats.org/drawingml/2006/main">
              <a:ext uri="{FF2B5EF4-FFF2-40B4-BE49-F238E27FC236}">
                <a16:creationId xmlns:a16="http://schemas.microsoft.com/office/drawing/2014/main" id="{13DD6F01-D729-4C06-AFAC-238EDC31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AFC"/>
                </a:solidFill>
              </a:defRPr>
            </a:pPr>
            <a:r>
              <a:rPr sz="1800" b="1">
                <a:solidFill>
                  <a:srgbClr val="F5FAFC"/>
                </a:solidFill>
              </a:rPr>
              <a:t>Cross-platform actions</a:t>
            </a:r>
          </a:p>
        </p:txBody>
      </p:sp>
      <p:sp>
        <p:nvSpPr>
          <p:cNvPr id="9" name="future-body-2">
            <a:extLst xmlns:a="http://schemas.openxmlformats.org/drawingml/2006/main">
              <a:ext uri="{FF2B5EF4-FFF2-40B4-BE49-F238E27FC236}">
                <a16:creationId xmlns:a16="http://schemas.microsoft.com/office/drawing/2014/main" id="{FC20561C-2EAA-48BC-9605-BDF739686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3BD"/>
                </a:solidFill>
              </a:defRPr>
            </a:pPr>
            <a:r>
              <a:rPr sz="1275" b="0">
                <a:solidFill>
                  <a:srgbClr val="A7B3BD"/>
                </a:solidFill>
              </a:rPr>
              <a:t>Add Windows and Linux adapters instead of macOS-only commands.</a:t>
            </a:r>
          </a:p>
        </p:txBody>
      </p:sp>
      <p:sp>
        <p:nvSpPr>
          <p:cNvPr id="10" name="future-head-3">
            <a:extLst xmlns:a="http://schemas.openxmlformats.org/drawingml/2006/main">
              <a:ext uri="{FF2B5EF4-FFF2-40B4-BE49-F238E27FC236}">
                <a16:creationId xmlns:a16="http://schemas.microsoft.com/office/drawing/2014/main" id="{B88478A9-AA6E-4539-A988-0AAB93B0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862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AFC"/>
                </a:solidFill>
              </a:defRPr>
            </a:pPr>
            <a:r>
              <a:rPr sz="1800" b="1">
                <a:solidFill>
                  <a:srgbClr val="F5FAFC"/>
                </a:solidFill>
              </a:rPr>
              <a:t>Container setup</a:t>
            </a:r>
          </a:p>
        </p:txBody>
      </p:sp>
      <p:sp>
        <p:nvSpPr>
          <p:cNvPr id="11" name="future-body-3">
            <a:extLst xmlns:a="http://schemas.openxmlformats.org/drawingml/2006/main">
              <a:ext uri="{FF2B5EF4-FFF2-40B4-BE49-F238E27FC236}">
                <a16:creationId xmlns:a16="http://schemas.microsoft.com/office/drawing/2014/main" id="{B4EB7D91-7C1C-458C-9105-D076258CA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1010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3BD"/>
                </a:solidFill>
              </a:defRPr>
            </a:pPr>
            <a:r>
              <a:rPr sz="1275" b="0">
                <a:solidFill>
                  <a:srgbClr val="A7B3BD"/>
                </a:solidFill>
              </a:rPr>
              <a:t>Document Docker profiles and service startup for repeatable demos.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152681418c40f7"/>
          <a:srcRect xmlns:a="http://schemas.openxmlformats.org/drawingml/2006/main" l="10114" t="0" r="1011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72300" y="1752600"/>
            <a:ext cx="4267200" cy="3714750"/>
          </a:xfrm>
          <a:prstGeom xmlns:a="http://schemas.openxmlformats.org/drawingml/2006/main" prst="roundRect">
            <a:avLst>
              <a:gd name="adj" fmla="val 2051"/>
            </a:avLst>
          </a:prstGeom>
        </p:spPr>
      </p:pic>
      <p:sp>
        <p:nvSpPr>
          <p:cNvPr id="13" name="footer-11">
            <a:extLst xmlns:a="http://schemas.openxmlformats.org/drawingml/2006/main">
              <a:ext uri="{FF2B5EF4-FFF2-40B4-BE49-F238E27FC236}">
                <a16:creationId xmlns:a16="http://schemas.microsoft.com/office/drawing/2014/main" id="{02A2A4F2-2A54-412A-A8A1-CFC4383B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293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7B3BD"/>
                </a:solidFill>
              </a:defRPr>
            </a:pPr>
            <a:r>
              <a:rPr sz="1050" b="0">
                <a:solidFill>
                  <a:srgbClr val="A7B3BD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5900435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0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dark-background">
            <a:extLst xmlns:a="http://schemas.openxmlformats.org/drawingml/2006/main">
              <a:ext uri="{FF2B5EF4-FFF2-40B4-BE49-F238E27FC236}">
                <a16:creationId xmlns:a16="http://schemas.microsoft.com/office/drawing/2014/main" id="{E5BAF1DC-B778-41DC-A281-41D34BA46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4"/>
          </a:solidFill>
          <a:ln xmlns:a="http://schemas.openxmlformats.org/drawingml/2006/main" w="0">
            <a:solidFill>
              <a:srgbClr val="071014"/>
            </a:solidFill>
            <a:prstDash val="solid"/>
          </a:ln>
        </p:spPr>
      </p:sp>
      <p:sp>
        <p:nvSpPr>
          <p:cNvPr id="2" name="kicker">
            <a:extLst xmlns:a="http://schemas.openxmlformats.org/drawingml/2006/main">
              <a:ext uri="{FF2B5EF4-FFF2-40B4-BE49-F238E27FC236}">
                <a16:creationId xmlns:a16="http://schemas.microsoft.com/office/drawing/2014/main" id="{BC2666AA-350E-4CAD-84C2-942BF1D9A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2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7E8F9"/>
                </a:solidFill>
              </a:defRPr>
            </a:pPr>
            <a:r>
              <a:rPr sz="1275" b="1">
                <a:solidFill>
                  <a:srgbClr val="67E8F9"/>
                </a:solidFill>
              </a:rPr>
              <a:t>VISIONGUARD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EDB731F-9EAE-4DF7-AC78-388AFAF37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9810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5FAFC"/>
                </a:solidFill>
              </a:defRPr>
            </a:pPr>
            <a:r>
              <a:rPr sz="3150" b="1">
                <a:solidFill>
                  <a:srgbClr val="F5FAFC"/>
                </a:solidFill>
              </a:rPr>
              <a:t>Evaluation should prove the system is reliable</a:t>
            </a:r>
          </a:p>
        </p:txBody>
      </p:sp>
      <p:sp>
        <p:nvSpPr>
          <p:cNvPr id="4" name="eval-head-0">
            <a:extLst xmlns:a="http://schemas.openxmlformats.org/drawingml/2006/main">
              <a:ext uri="{FF2B5EF4-FFF2-40B4-BE49-F238E27FC236}">
                <a16:creationId xmlns:a16="http://schemas.microsoft.com/office/drawing/2014/main" id="{CBC0B5F4-F89E-4531-86D5-45C26545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952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AFC"/>
                </a:solidFill>
              </a:defRPr>
            </a:pPr>
            <a:r>
              <a:rPr sz="1800" b="1">
                <a:solidFill>
                  <a:srgbClr val="F5FAFC"/>
                </a:solidFill>
              </a:rPr>
              <a:t>Gesture quality</a:t>
            </a:r>
          </a:p>
        </p:txBody>
      </p:sp>
      <p:sp>
        <p:nvSpPr>
          <p:cNvPr id="5" name="eval-body-0">
            <a:extLst xmlns:a="http://schemas.openxmlformats.org/drawingml/2006/main">
              <a:ext uri="{FF2B5EF4-FFF2-40B4-BE49-F238E27FC236}">
                <a16:creationId xmlns:a16="http://schemas.microsoft.com/office/drawing/2014/main" id="{1490FBA9-D78A-4295-A1E5-A2024DDE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14550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3BD"/>
                </a:solidFill>
              </a:defRPr>
            </a:pPr>
            <a:r>
              <a:rPr sz="1275" b="0">
                <a:solidFill>
                  <a:srgbClr val="A7B3BD"/>
                </a:solidFill>
              </a:rPr>
              <a:t>Measure correct detections, missed gestures, and accidental activations.</a:t>
            </a:r>
          </a:p>
        </p:txBody>
      </p:sp>
      <p:sp>
        <p:nvSpPr>
          <p:cNvPr id="6" name="eval-head-1">
            <a:extLst xmlns:a="http://schemas.openxmlformats.org/drawingml/2006/main">
              <a:ext uri="{FF2B5EF4-FFF2-40B4-BE49-F238E27FC236}">
                <a16:creationId xmlns:a16="http://schemas.microsoft.com/office/drawing/2014/main" id="{81E7B0D6-34A1-4536-B1B0-4DF37F7A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952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AFC"/>
                </a:solidFill>
              </a:defRPr>
            </a:pPr>
            <a:r>
              <a:rPr sz="1800" b="1">
                <a:solidFill>
                  <a:srgbClr val="F5FAFC"/>
                </a:solidFill>
              </a:rPr>
              <a:t>Authentication behavior</a:t>
            </a:r>
          </a:p>
        </p:txBody>
      </p:sp>
      <p:sp>
        <p:nvSpPr>
          <p:cNvPr id="7" name="eval-body-1">
            <a:extLst xmlns:a="http://schemas.openxmlformats.org/drawingml/2006/main">
              <a:ext uri="{FF2B5EF4-FFF2-40B4-BE49-F238E27FC236}">
                <a16:creationId xmlns:a16="http://schemas.microsoft.com/office/drawing/2014/main" id="{D12073BA-15AA-4D25-963A-EC8926D7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3BD"/>
                </a:solidFill>
              </a:defRPr>
            </a:pPr>
            <a:r>
              <a:rPr sz="1275" b="0">
                <a:solidFill>
                  <a:srgbClr val="A7B3BD"/>
                </a:solidFill>
              </a:rPr>
              <a:t>Test authorized user, absent user, and different-user cases.</a:t>
            </a:r>
          </a:p>
        </p:txBody>
      </p:sp>
      <p:sp>
        <p:nvSpPr>
          <p:cNvPr id="8" name="eval-head-2">
            <a:extLst xmlns:a="http://schemas.openxmlformats.org/drawingml/2006/main">
              <a:ext uri="{FF2B5EF4-FFF2-40B4-BE49-F238E27FC236}">
                <a16:creationId xmlns:a16="http://schemas.microsoft.com/office/drawing/2014/main" id="{F39AABD2-418D-4541-9E33-367177FD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81400"/>
            <a:ext cx="952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AFC"/>
                </a:solidFill>
              </a:defRPr>
            </a:pPr>
            <a:r>
              <a:rPr sz="1800" b="1">
                <a:solidFill>
                  <a:srgbClr val="F5FAFC"/>
                </a:solidFill>
              </a:rPr>
              <a:t>Responsiveness</a:t>
            </a:r>
          </a:p>
        </p:txBody>
      </p:sp>
      <p:sp>
        <p:nvSpPr>
          <p:cNvPr id="9" name="eval-body-2">
            <a:extLst xmlns:a="http://schemas.openxmlformats.org/drawingml/2006/main">
              <a:ext uri="{FF2B5EF4-FFF2-40B4-BE49-F238E27FC236}">
                <a16:creationId xmlns:a16="http://schemas.microsoft.com/office/drawing/2014/main" id="{E4966A09-CC84-4E6B-AC66-74F2FC1B1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05250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3BD"/>
                </a:solidFill>
              </a:defRPr>
            </a:pPr>
            <a:r>
              <a:rPr sz="1275" b="0">
                <a:solidFill>
                  <a:srgbClr val="A7B3BD"/>
                </a:solidFill>
              </a:rPr>
              <a:t>Record frame processing, inference time, action time, and end-to-end latency.</a:t>
            </a:r>
          </a:p>
        </p:txBody>
      </p:sp>
      <p:sp>
        <p:nvSpPr>
          <p:cNvPr id="10" name="eval-head-3">
            <a:extLst xmlns:a="http://schemas.openxmlformats.org/drawingml/2006/main">
              <a:ext uri="{FF2B5EF4-FFF2-40B4-BE49-F238E27FC236}">
                <a16:creationId xmlns:a16="http://schemas.microsoft.com/office/drawing/2014/main" id="{13719B8D-D359-4575-98F9-EFCB84064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76750"/>
            <a:ext cx="952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AFC"/>
                </a:solidFill>
              </a:defRPr>
            </a:pPr>
            <a:r>
              <a:rPr sz="1800" b="1">
                <a:solidFill>
                  <a:srgbClr val="F5FAFC"/>
                </a:solidFill>
              </a:rPr>
              <a:t>Platform readiness</a:t>
            </a:r>
          </a:p>
        </p:txBody>
      </p:sp>
      <p:sp>
        <p:nvSpPr>
          <p:cNvPr id="11" name="eval-body-3">
            <a:extLst xmlns:a="http://schemas.openxmlformats.org/drawingml/2006/main">
              <a:ext uri="{FF2B5EF4-FFF2-40B4-BE49-F238E27FC236}">
                <a16:creationId xmlns:a16="http://schemas.microsoft.com/office/drawing/2014/main" id="{D180256C-7406-4989-B319-18905CCD9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00600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7B3BD"/>
                </a:solidFill>
              </a:defRPr>
            </a:pPr>
            <a:r>
              <a:rPr sz="1275" b="0">
                <a:solidFill>
                  <a:srgbClr val="A7B3BD"/>
                </a:solidFill>
              </a:rPr>
              <a:t>Check what works on macOS now and what adapters are needed for Windows and Linux.</a:t>
            </a:r>
          </a:p>
        </p:txBody>
      </p:sp>
      <p:sp>
        <p:nvSpPr>
          <p:cNvPr id="12" name="footer-12">
            <a:extLst xmlns:a="http://schemas.openxmlformats.org/drawingml/2006/main">
              <a:ext uri="{FF2B5EF4-FFF2-40B4-BE49-F238E27FC236}">
                <a16:creationId xmlns:a16="http://schemas.microsoft.com/office/drawing/2014/main" id="{8DCD7EA9-0758-418C-92C1-0A6AFCE23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293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7B3BD"/>
                </a:solidFill>
              </a:defRPr>
            </a:pPr>
            <a:r>
              <a:rPr sz="1050" b="0">
                <a:solidFill>
                  <a:srgbClr val="A7B3BD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4948197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2026-08-30T14:24:23.2040000Z</dcterms:created>
  <dcterms:modified xsi:type="dcterms:W3CDTF">2026-08-30T14:24:23.2040000Z</dcterms:modified>
</coreProperties>
</file>