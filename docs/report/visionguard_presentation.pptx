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41cd5f7fb4488c" /><Relationship Type="http://schemas.openxmlformats.org/officeDocument/2006/relationships/extended-properties" Target="/docProps/app.xml" Id="Rfa68e7d9b6004ab1" /><Relationship Type="http://schemas.openxmlformats.org/officeDocument/2006/relationships/officeDocument" Target="/ppt/presentation.xml" Id="Rf0cf348d680447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a8842d29474181"/>
  </p:sldMasterIdLst>
  <p:notesMasterIdLst>
    <p:notesMasterId xmlns:r="http://schemas.openxmlformats.org/officeDocument/2006/relationships" r:id="R8d136632a674433d"/>
  </p:notesMasterIdLst>
  <p:sldIdLst>
    <p:sldId xmlns:r="http://schemas.openxmlformats.org/officeDocument/2006/relationships" id="256" r:id="R4f2b1456bc7c49aa"/>
    <p:sldId xmlns:r="http://schemas.openxmlformats.org/officeDocument/2006/relationships" id="257" r:id="R510308471f3542cd"/>
    <p:sldId xmlns:r="http://schemas.openxmlformats.org/officeDocument/2006/relationships" id="258" r:id="R51282b9d93cd4cd6"/>
    <p:sldId xmlns:r="http://schemas.openxmlformats.org/officeDocument/2006/relationships" id="259" r:id="Rabc8ccddd1fb4733"/>
    <p:sldId xmlns:r="http://schemas.openxmlformats.org/officeDocument/2006/relationships" id="260" r:id="R71af4c7be652438a"/>
    <p:sldId xmlns:r="http://schemas.openxmlformats.org/officeDocument/2006/relationships" id="261" r:id="Rea4bbbcb35d74402"/>
    <p:sldId xmlns:r="http://schemas.openxmlformats.org/officeDocument/2006/relationships" id="262" r:id="Re076e074d1af482a"/>
    <p:sldId xmlns:r="http://schemas.openxmlformats.org/officeDocument/2006/relationships" id="263" r:id="R17f403fb13424157"/>
    <p:sldId xmlns:r="http://schemas.openxmlformats.org/officeDocument/2006/relationships" id="264" r:id="R099def2623954f7d"/>
    <p:sldId xmlns:r="http://schemas.openxmlformats.org/officeDocument/2006/relationships" id="265" r:id="R8dc78c7991c842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6262e3b4bc4439" /><Relationship Type="http://schemas.openxmlformats.org/officeDocument/2006/relationships/slideMaster" Target="/ppt/slideMasters/slideMaster1.xml" Id="R83a8842d29474181" /><Relationship Type="http://schemas.openxmlformats.org/officeDocument/2006/relationships/notesMaster" Target="/ppt/notesMasters/notesMaster1.xml" Id="R8d136632a674433d" /><Relationship Type="http://schemas.openxmlformats.org/officeDocument/2006/relationships/presProps" Target="/ppt/presProps.xml" Id="R7d29bdd310084062" /><Relationship Type="http://schemas.openxmlformats.org/officeDocument/2006/relationships/tableStyles" Target="/ppt/tableStyles.xml" Id="Rfd2799f43dfd4b3d" /><Relationship Type="http://schemas.openxmlformats.org/officeDocument/2006/relationships/slide" Target="/ppt/slides/slide1.xml" Id="R4f2b1456bc7c49aa" /><Relationship Type="http://schemas.openxmlformats.org/officeDocument/2006/relationships/slide" Target="/ppt/slides/slide2.xml" Id="R510308471f3542cd" /><Relationship Type="http://schemas.openxmlformats.org/officeDocument/2006/relationships/slide" Target="/ppt/slides/slide3.xml" Id="R51282b9d93cd4cd6" /><Relationship Type="http://schemas.openxmlformats.org/officeDocument/2006/relationships/slide" Target="/ppt/slides/slide4.xml" Id="Rabc8ccddd1fb4733" /><Relationship Type="http://schemas.openxmlformats.org/officeDocument/2006/relationships/slide" Target="/ppt/slides/slide5.xml" Id="R71af4c7be652438a" /><Relationship Type="http://schemas.openxmlformats.org/officeDocument/2006/relationships/slide" Target="/ppt/slides/slide6.xml" Id="Rea4bbbcb35d74402" /><Relationship Type="http://schemas.openxmlformats.org/officeDocument/2006/relationships/slide" Target="/ppt/slides/slide7.xml" Id="Re076e074d1af482a" /><Relationship Type="http://schemas.openxmlformats.org/officeDocument/2006/relationships/slide" Target="/ppt/slides/slide8.xml" Id="R17f403fb13424157" /><Relationship Type="http://schemas.openxmlformats.org/officeDocument/2006/relationships/slide" Target="/ppt/slides/slide9.xml" Id="R099def2623954f7d" /><Relationship Type="http://schemas.openxmlformats.org/officeDocument/2006/relationships/slide" Target="/ppt/slides/slide10.xml" Id="R8dc78c7991c842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f3d4e6f11841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7b20b04e574561" /><Relationship Type="http://schemas.openxmlformats.org/officeDocument/2006/relationships/notesMaster" Target="/ppt/notesMasters/notesMaster1.xml" Id="R043517a0ceb340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b42366293443bf" /><Relationship Type="http://schemas.openxmlformats.org/officeDocument/2006/relationships/notesMaster" Target="/ppt/notesMasters/notesMaster1.xml" Id="R7a3d174a4dad43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2e9e3830204bbd" /><Relationship Type="http://schemas.openxmlformats.org/officeDocument/2006/relationships/notesMaster" Target="/ppt/notesMasters/notesMaster1.xml" Id="R47c02f7b7c1c4e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53d8bdd0744b18" /><Relationship Type="http://schemas.openxmlformats.org/officeDocument/2006/relationships/notesMaster" Target="/ppt/notesMasters/notesMaster1.xml" Id="R0d60a871bad743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2fa8cc69ec47fd" /><Relationship Type="http://schemas.openxmlformats.org/officeDocument/2006/relationships/notesMaster" Target="/ppt/notesMasters/notesMaster1.xml" Id="R71f9e368e95840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ce48939a024dbb" /><Relationship Type="http://schemas.openxmlformats.org/officeDocument/2006/relationships/notesMaster" Target="/ppt/notesMasters/notesMaster1.xml" Id="Re0beefb6219a47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5f4557e4c449f6" /><Relationship Type="http://schemas.openxmlformats.org/officeDocument/2006/relationships/notesMaster" Target="/ppt/notesMasters/notesMaster1.xml" Id="R7d7c058e7f7e47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6e3f3ae3a146ba" /><Relationship Type="http://schemas.openxmlformats.org/officeDocument/2006/relationships/notesMaster" Target="/ppt/notesMasters/notesMaster1.xml" Id="R6b5938aca56a45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cd67dcdef54c4f" /><Relationship Type="http://schemas.openxmlformats.org/officeDocument/2006/relationships/notesMaster" Target="/ppt/notesMasters/notesMaster1.xml" Id="R506fccd007d243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d9820aaeb64720" /><Relationship Type="http://schemas.openxmlformats.org/officeDocument/2006/relationships/notesMaster" Target="/ppt/notesMasters/notesMaster1.xml" Id="Rc9845212afe141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report source: docs/report/visionguard_report.tex</a:t>
            </a:r>
          </a:p>
          <a:p xmlns:a="http://schemas.openxmlformats.org/drawingml/2006/main">
            <a:r>
              <a:t>- Screenshot: docs/report/figures/visionguard-monitor.png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report sections: Introduction and Background in docs/report/visionguard_report.tex</a:t>
            </a:r>
          </a:p>
          <a:p xmlns:a="http://schemas.openxmlformats.org/drawingml/2006/main">
            <a:r>
              <a:t>- Repository README: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objectives summarized from docs/report/visionguard_report.tex</a:t>
            </a:r>
          </a:p>
          <a:p xmlns:a="http://schemas.openxmlformats.org/drawingml/2006/main">
            <a:r>
              <a:t>- Repository README demo flow: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Desktop app source: apps/desktop/src/renderer/app/App.tsx</a:t>
            </a:r>
          </a:p>
          <a:p xmlns:a="http://schemas.openxmlformats.org/drawingml/2006/main">
            <a:r>
              <a:t>- Shared contract source: packages/shared-kernel/src/contracts/ai/model-contract.ts</a:t>
            </a:r>
          </a:p>
          <a:p xmlns:a="http://schemas.openxmlformats.org/drawingml/2006/main">
            <a:r>
              <a:t>- AI service source: services/ai-models/src/interfaces/api/state.py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Inference and cooldown logic: apps/desktop/src/renderer/app/App.tsx</a:t>
            </a:r>
          </a:p>
          <a:p xmlns:a="http://schemas.openxmlformats.org/drawingml/2006/main">
            <a:r>
              <a:t>- Hand presence logic: services/ai-models/src/application/training/gesture_training_worker.py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Screenshot: docs/report/figures/visionguard-monitor.png</a:t>
            </a:r>
          </a:p>
          <a:p xmlns:a="http://schemas.openxmlformats.org/drawingml/2006/main">
            <a:r>
              <a:t>- Live monitor component: apps/desktop/src/renderer/app/components/LiveVisionPanel.tsx</a:t>
            </a:r>
          </a:p>
          <a:p xmlns:a="http://schemas.openxmlformats.org/drawingml/2006/main">
            <a:r>
              <a:t>- Model health and event timeline rendered from apps/desktop/src/renderer/app/App.tsx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Screenshot: docs/report/figures/visionguard-gestures.png</a:t>
            </a:r>
          </a:p>
          <a:p xmlns:a="http://schemas.openxmlformats.org/drawingml/2006/main">
            <a:r>
              <a:t>- Gesture component: apps/desktop/src/renderer/app/components/GesturesPanel.tsx</a:t>
            </a:r>
          </a:p>
          <a:p xmlns:a="http://schemas.openxmlformats.org/drawingml/2006/main">
            <a:r>
              <a:t>- Desktop action support: apps/desktop/src/main/application/actions/execute-gesture-action.ts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Shared AI model contract: packages/shared-kernel/src/contracts/ai/model-contract.ts</a:t>
            </a:r>
          </a:p>
          <a:p xmlns:a="http://schemas.openxmlformats.org/drawingml/2006/main">
            <a:r>
              <a:t>- FastAPI routes: services/ai-models/src/interfaces/api/routes/inference.py</a:t>
            </a:r>
          </a:p>
          <a:p xmlns:a="http://schemas.openxmlformats.org/drawingml/2006/main">
            <a:r>
              <a:t>- AI service state and training job flow: services/ai-models/src/interfaces/api/state.py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 views: apps/desktop/src/renderer/app/data.ts</a:t>
            </a:r>
          </a:p>
          <a:p xmlns:a="http://schemas.openxmlformats.org/drawingml/2006/main">
            <a:r>
              <a:t>- Action types: apps/desktop/src/main/application/actions/execute-gesture-action.ts</a:t>
            </a:r>
          </a:p>
          <a:p xmlns:a="http://schemas.openxmlformats.org/drawingml/2006/main">
            <a:r>
              <a:t>- Contract operations: packages/shared-kernel/src/contracts/ai/model-contract.ts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Future work summarized from docs/report/visionguard_report.tex</a:t>
            </a:r>
          </a:p>
          <a:p xmlns:a="http://schemas.openxmlformats.org/drawingml/2006/main">
            <a:r>
              <a:t>- Screenshot: docs/report/figures/visionguard-models.png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5d2c45ba9547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2df73f582a4cd6" /><Relationship Type="http://schemas.openxmlformats.org/officeDocument/2006/relationships/slideLayout" Target="/ppt/slideLayouts/slideLayout1.xml" Id="R95358fef1b9149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358fef1b9149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aa430a2c841dc" /><Relationship Type="http://schemas.openxmlformats.org/officeDocument/2006/relationships/image" Target="/ppt/media/image.png" Id="R2c4e3c8716a74a31" /><Relationship Type="http://schemas.openxmlformats.org/officeDocument/2006/relationships/notesSlide" Target="/ppt/notesSlides/notesSlide1.xml" Id="R5f6f0f325b6d41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1d750273e4ec2" /><Relationship Type="http://schemas.openxmlformats.org/officeDocument/2006/relationships/notesSlide" Target="/ppt/notesSlides/notesSlide2.xml" Id="R529cd20f265941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a6a80f1414a8b" /><Relationship Type="http://schemas.openxmlformats.org/officeDocument/2006/relationships/notesSlide" Target="/ppt/notesSlides/notesSlide3.xml" Id="R7b5d6a8e87ba4d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a4665fb834724" /><Relationship Type="http://schemas.openxmlformats.org/officeDocument/2006/relationships/notesSlide" Target="/ppt/notesSlides/notesSlide4.xml" Id="R023091875abd40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32f5ab0104d0f" /><Relationship Type="http://schemas.openxmlformats.org/officeDocument/2006/relationships/notesSlide" Target="/ppt/notesSlides/notesSlide5.xml" Id="Ra705c7f1581f41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7aa663353407e" /><Relationship Type="http://schemas.openxmlformats.org/officeDocument/2006/relationships/image" Target="/ppt/media/image2.png" Id="R8a54bc478d9e4529" /><Relationship Type="http://schemas.openxmlformats.org/officeDocument/2006/relationships/notesSlide" Target="/ppt/notesSlides/notesSlide6.xml" Id="Ra70f3b7e15de48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54281c184d49d1" /><Relationship Type="http://schemas.openxmlformats.org/officeDocument/2006/relationships/image" Target="/ppt/media/image3.png" Id="Rfbac497202544ff1" /><Relationship Type="http://schemas.openxmlformats.org/officeDocument/2006/relationships/notesSlide" Target="/ppt/notesSlides/notesSlide7.xml" Id="Rcc6e556ab4ce48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c624a9b1d4b40" /><Relationship Type="http://schemas.openxmlformats.org/officeDocument/2006/relationships/notesSlide" Target="/ppt/notesSlides/notesSlide8.xml" Id="R1d7dbf1e54ec4a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05feb39f2403a" /><Relationship Type="http://schemas.openxmlformats.org/officeDocument/2006/relationships/chart" Target="/ppt/slides/charts/chart1.xml" Id="Re0cf092788254d76" /><Relationship Type="http://schemas.openxmlformats.org/officeDocument/2006/relationships/notesSlide" Target="/ppt/notesSlides/notesSlide9.xml" Id="R75367695668947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8dcf626444d3b" /><Relationship Type="http://schemas.openxmlformats.org/officeDocument/2006/relationships/image" Target="/ppt/media/image4.png" Id="Rdafca0912e2f4ddc" /><Relationship Type="http://schemas.openxmlformats.org/officeDocument/2006/relationships/notesSlide" Target="/ppt/notesSlides/notesSlide10.xml" Id="Rf042895df2854da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Implemented count</c:v>
          </c:tx>
          <c:spPr>
            <a:solidFill xmlns:a="http://schemas.openxmlformats.org/drawingml/2006/main">
              <a:srgbClr val="36C5F0"/>
            </a:solidFill>
          </c:spPr>
          <c:cat>
            <c:strLit>
              <c:ptCount val="3"/>
              <c:pt idx="0">
                <c:v>App views</c:v>
              </c:pt>
              <c:pt idx="1">
                <c:v>Action types</c:v>
              </c:pt>
              <c:pt idx="2">
                <c:v>Contract operations</c:v>
              </c:pt>
            </c:strLit>
          </c:cat>
          <c:val>
            <c:numLit>
              <c:formatCode>General</c:formatCode>
              <c:ptCount val="3"/>
              <c:pt idx="0">
                <c:v>5</c:v>
              </c:pt>
              <c:pt idx="1">
                <c:v>6</c:v>
              </c:pt>
              <c:pt idx="2">
                <c:v>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DE3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D712635-6E76-436E-BBAC-527CA100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04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50505"/>
                </a:solidFill>
              </a:defRPr>
            </a:pPr>
            <a:r>
              <a:rPr sz="4500" b="1">
                <a:solidFill>
                  <a:srgbClr val="050505"/>
                </a:solidFill>
              </a:rPr>
              <a:t>VisionGuard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839BA5F-0B39-442D-AC43-DC1D2F2F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5866"/>
                </a:solidFill>
              </a:defRPr>
            </a:pPr>
            <a:r>
              <a:rPr sz="2100" b="0">
                <a:solidFill>
                  <a:srgbClr val="525866"/>
                </a:solidFill>
              </a:rPr>
              <a:t>Local computer vision for gesture recognition and continuous user authentication</a:t>
            </a:r>
          </a:p>
        </p:txBody>
      </p:sp>
      <p:sp>
        <p:nvSpPr>
          <p:cNvPr id="3" name="meta">
            <a:extLst xmlns:a="http://schemas.openxmlformats.org/drawingml/2006/main">
              <a:ext uri="{FF2B5EF4-FFF2-40B4-BE49-F238E27FC236}">
                <a16:creationId xmlns:a16="http://schemas.microsoft.com/office/drawing/2014/main" id="{3088B2F4-9F58-4E7F-898D-3413CD8A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5866"/>
                </a:solidFill>
              </a:defRPr>
            </a:pPr>
            <a:r>
              <a:rPr sz="1425" b="0">
                <a:solidFill>
                  <a:srgbClr val="525866"/>
                </a:solidFill>
              </a:rPr>
              <a:t>Bachelor Semester Project S2</a:t>
            </a:r>
          </a:p>
          <a:p xmlns:a="http://schemas.openxmlformats.org/drawingml/2006/main">
            <a:pPr algn="l">
              <a:defRPr sz="1425" b="0">
                <a:solidFill>
                  <a:srgbClr val="525866"/>
                </a:solidFill>
              </a:defRPr>
            </a:pPr>
            <a:r>
              <a:rPr sz="1425" b="0">
                <a:solidFill>
                  <a:srgbClr val="525866"/>
                </a:solidFill>
              </a:rPr>
              <a:t>University of Luxembourg</a:t>
            </a:r>
          </a:p>
          <a:p xmlns:a="http://schemas.openxmlformats.org/drawingml/2006/main">
            <a:pPr algn="l">
              <a:defRPr sz="1425" b="0">
                <a:solidFill>
                  <a:srgbClr val="525866"/>
                </a:solidFill>
              </a:defRPr>
            </a:pPr>
            <a:r>
              <a:rPr sz="1425" b="0">
                <a:solidFill>
                  <a:srgbClr val="525866"/>
                </a:solidFill>
              </a:rPr>
              <a:t>Stefan Penchev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4e3c8716a74a31"/>
          <a:srcRect xmlns:a="http://schemas.openxmlformats.org/drawingml/2006/main" l="17615" t="0" r="176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57200"/>
            <a:ext cx="5543550" cy="5943600"/>
          </a:xfrm>
          <a:prstGeom xmlns:a="http://schemas.openxmlformats.org/drawingml/2006/main" prst="roundRect">
            <a:avLst>
              <a:gd name="adj" fmla="val 1375"/>
            </a:avLst>
          </a:prstGeom>
        </p:spPr>
      </p:pic>
      <p:sp>
        <p:nvSpPr>
          <p:cNvPr id="5" name="footer-1">
            <a:extLst xmlns:a="http://schemas.openxmlformats.org/drawingml/2006/main">
              <a:ext uri="{FF2B5EF4-FFF2-40B4-BE49-F238E27FC236}">
                <a16:creationId xmlns:a16="http://schemas.microsoft.com/office/drawing/2014/main" id="{44756FE9-4FB2-42C5-8751-57B1105C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6"/>
                </a:solidFill>
              </a:defRPr>
            </a:pPr>
            <a:r>
              <a:rPr sz="1050" b="0">
                <a:solidFill>
                  <a:srgbClr val="525866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992311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E322B87C-D06D-4233-A1E3-9EE39B27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7C95"/>
                </a:solidFill>
              </a:defRPr>
            </a:pPr>
            <a:r>
              <a:rPr sz="1275" b="1">
                <a:solidFill>
                  <a:srgbClr val="127C95"/>
                </a:solidFill>
              </a:rPr>
              <a:t>VISIONGUARD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FE92D5-3E01-4C7F-81DC-D41BF473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981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Desktop security needs context after login</a:t>
            </a:r>
          </a:p>
        </p:txBody>
      </p:sp>
      <p:sp>
        <p:nvSpPr>
          <p:cNvPr id="3" name="problem-head-0">
            <a:extLst xmlns:a="http://schemas.openxmlformats.org/drawingml/2006/main">
              <a:ext uri="{FF2B5EF4-FFF2-40B4-BE49-F238E27FC236}">
                <a16:creationId xmlns:a16="http://schemas.microsoft.com/office/drawing/2014/main" id="{DA8459BD-B757-4001-87C0-34195682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One-time checks are limited</a:t>
            </a:r>
          </a:p>
        </p:txBody>
      </p:sp>
      <p:sp>
        <p:nvSpPr>
          <p:cNvPr id="4" name="problem-body-0">
            <a:extLst xmlns:a="http://schemas.openxmlformats.org/drawingml/2006/main">
              <a:ext uri="{FF2B5EF4-FFF2-40B4-BE49-F238E27FC236}">
                <a16:creationId xmlns:a16="http://schemas.microsoft.com/office/drawing/2014/main" id="{4EED8C43-90E6-4C40-8DBF-0AC4221E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5866"/>
                </a:solidFill>
              </a:defRPr>
            </a:pPr>
            <a:r>
              <a:rPr sz="1275" b="0">
                <a:solidFill>
                  <a:srgbClr val="525866"/>
                </a:solidFill>
              </a:rPr>
              <a:t>Traditional login verifies a moment, not the full session.</a:t>
            </a:r>
          </a:p>
        </p:txBody>
      </p:sp>
      <p:sp>
        <p:nvSpPr>
          <p:cNvPr id="5" name="problem-head-1">
            <a:extLst xmlns:a="http://schemas.openxmlformats.org/drawingml/2006/main">
              <a:ext uri="{FF2B5EF4-FFF2-40B4-BE49-F238E27FC236}">
                <a16:creationId xmlns:a16="http://schemas.microsoft.com/office/drawing/2014/main" id="{D1B72EE6-BCDD-4B3D-BDC3-4AC18F54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67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Hands-free control is useful</a:t>
            </a:r>
          </a:p>
        </p:txBody>
      </p:sp>
      <p:sp>
        <p:nvSpPr>
          <p:cNvPr id="6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8510990A-D93A-41CE-95EC-8F64F9DC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5866"/>
                </a:solidFill>
              </a:defRPr>
            </a:pPr>
            <a:r>
              <a:rPr sz="1275" b="0">
                <a:solidFill>
                  <a:srgbClr val="525866"/>
                </a:solidFill>
              </a:rPr>
              <a:t>Repeated desktop actions can be faster through reliable gestures.</a:t>
            </a:r>
          </a:p>
        </p:txBody>
      </p:sp>
      <p:sp>
        <p:nvSpPr>
          <p:cNvPr id="7" name="problem-head-2">
            <a:extLst xmlns:a="http://schemas.openxmlformats.org/drawingml/2006/main">
              <a:ext uri="{FF2B5EF4-FFF2-40B4-BE49-F238E27FC236}">
                <a16:creationId xmlns:a16="http://schemas.microsoft.com/office/drawing/2014/main" id="{7A32A8A1-52D3-4476-95F3-43BBE849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814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Camera input is sensitive</a:t>
            </a:r>
          </a:p>
        </p:txBody>
      </p:sp>
      <p:sp>
        <p:nvSpPr>
          <p:cNvPr id="8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EC0A26FD-9BF8-4321-8D77-4BA05BBF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5866"/>
                </a:solidFill>
              </a:defRPr>
            </a:pPr>
            <a:r>
              <a:rPr sz="1275" b="0">
                <a:solidFill>
                  <a:srgbClr val="525866"/>
                </a:solidFill>
              </a:rPr>
              <a:t>A practical system should process frames locally and expose clear state.</a:t>
            </a:r>
          </a:p>
        </p:txBody>
      </p:sp>
      <p:sp>
        <p:nvSpPr>
          <p:cNvPr id="9" name="problem-callout">
            <a:extLst xmlns:a="http://schemas.openxmlformats.org/drawingml/2006/main">
              <a:ext uri="{FF2B5EF4-FFF2-40B4-BE49-F238E27FC236}">
                <a16:creationId xmlns:a16="http://schemas.microsoft.com/office/drawing/2014/main" id="{0E3F5523-11B0-4FD1-ADCD-4163B64E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24050"/>
            <a:ext cx="4953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problem-callout-title">
            <a:extLst xmlns:a="http://schemas.openxmlformats.org/drawingml/2006/main">
              <a:ext uri="{FF2B5EF4-FFF2-40B4-BE49-F238E27FC236}">
                <a16:creationId xmlns:a16="http://schemas.microsoft.com/office/drawing/2014/main" id="{5B52C30C-78E0-40FC-A269-C5277D27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003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50505"/>
                </a:solidFill>
              </a:defRPr>
            </a:pPr>
            <a:r>
              <a:rPr sz="2400" b="1">
                <a:solidFill>
                  <a:srgbClr val="050505"/>
                </a:solidFill>
              </a:rPr>
              <a:t>Project question</a:t>
            </a:r>
          </a:p>
        </p:txBody>
      </p:sp>
      <p:sp>
        <p:nvSpPr>
          <p:cNvPr id="11" name="problem-callout-body">
            <a:extLst xmlns:a="http://schemas.openxmlformats.org/drawingml/2006/main">
              <a:ext uri="{FF2B5EF4-FFF2-40B4-BE49-F238E27FC236}">
                <a16:creationId xmlns:a16="http://schemas.microsoft.com/office/drawing/2014/main" id="{F4F609B4-5010-4410-8287-447305B6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05150"/>
            <a:ext cx="4000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50505"/>
                </a:solidFill>
              </a:defRPr>
            </a:pPr>
            <a:r>
              <a:rPr sz="1875" b="0">
                <a:solidFill>
                  <a:srgbClr val="050505"/>
                </a:solidFill>
              </a:rPr>
              <a:t>Can a local desktop app connect camera monitoring, gesture training, live inference, and action execution in one understandable workflow?</a:t>
            </a:r>
          </a:p>
        </p:txBody>
      </p:sp>
      <p:sp>
        <p:nvSpPr>
          <p:cNvPr id="12" name="footer-2">
            <a:extLst xmlns:a="http://schemas.openxmlformats.org/drawingml/2006/main">
              <a:ext uri="{FF2B5EF4-FFF2-40B4-BE49-F238E27FC236}">
                <a16:creationId xmlns:a16="http://schemas.microsoft.com/office/drawing/2014/main" id="{2470E57E-93BA-480D-9D68-5A0A387C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6"/>
                </a:solidFill>
              </a:defRPr>
            </a:pPr>
            <a:r>
              <a:rPr sz="1050" b="0">
                <a:solidFill>
                  <a:srgbClr val="525866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238449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D89A2E07-26D1-406E-A9E2-BAA637BE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7C95"/>
                </a:solidFill>
              </a:defRPr>
            </a:pPr>
            <a:r>
              <a:rPr sz="1275" b="1">
                <a:solidFill>
                  <a:srgbClr val="127C95"/>
                </a:solidFill>
              </a:rPr>
              <a:t>VISIONGUARD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4D2D6D-FAE1-469F-A4D1-66ECBC11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981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The prototype targets an end-to-end local vision loop</a:t>
            </a:r>
          </a:p>
        </p:txBody>
      </p:sp>
      <p:sp>
        <p:nvSpPr>
          <p:cNvPr id="3" name="objective-num-0">
            <a:extLst xmlns:a="http://schemas.openxmlformats.org/drawingml/2006/main">
              <a:ext uri="{FF2B5EF4-FFF2-40B4-BE49-F238E27FC236}">
                <a16:creationId xmlns:a16="http://schemas.microsoft.com/office/drawing/2014/main" id="{07B10033-DA65-49CC-AEE6-7233529E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7C95"/>
                </a:solidFill>
              </a:defRPr>
            </a:pPr>
            <a:r>
              <a:rPr sz="2100" b="1">
                <a:solidFill>
                  <a:srgbClr val="127C95"/>
                </a:solidFill>
              </a:rPr>
              <a:t>01</a:t>
            </a:r>
          </a:p>
        </p:txBody>
      </p:sp>
      <p:sp>
        <p:nvSpPr>
          <p:cNvPr id="4" name="objective-head-0">
            <a:extLst xmlns:a="http://schemas.openxmlformats.org/drawingml/2006/main">
              <a:ext uri="{FF2B5EF4-FFF2-40B4-BE49-F238E27FC236}">
                <a16:creationId xmlns:a16="http://schemas.microsoft.com/office/drawing/2014/main" id="{AEB30521-29B4-4660-ACBF-C2D650BC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866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0505"/>
                </a:solidFill>
              </a:defRPr>
            </a:pPr>
            <a:r>
              <a:rPr sz="1950" b="1">
                <a:solidFill>
                  <a:srgbClr val="050505"/>
                </a:solidFill>
              </a:rPr>
              <a:t>Monitor</a:t>
            </a:r>
          </a:p>
        </p:txBody>
      </p:sp>
      <p:sp>
        <p:nvSpPr>
          <p:cNvPr id="5" name="objective-body-0">
            <a:extLst xmlns:a="http://schemas.openxmlformats.org/drawingml/2006/main">
              <a:ext uri="{FF2B5EF4-FFF2-40B4-BE49-F238E27FC236}">
                <a16:creationId xmlns:a16="http://schemas.microsoft.com/office/drawing/2014/main" id="{01999EA6-F2AB-4F03-B017-5A202F4C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859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866"/>
                </a:solidFill>
              </a:defRPr>
            </a:pPr>
            <a:r>
              <a:rPr sz="1650" b="0">
                <a:solidFill>
                  <a:srgbClr val="525866"/>
                </a:solidFill>
              </a:rPr>
              <a:t>Start a camera session and show readiness state.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6C858A-C886-4A0C-84AA-50A9C52D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7" name="objective-num-1">
            <a:extLst xmlns:a="http://schemas.openxmlformats.org/drawingml/2006/main">
              <a:ext uri="{FF2B5EF4-FFF2-40B4-BE49-F238E27FC236}">
                <a16:creationId xmlns:a16="http://schemas.microsoft.com/office/drawing/2014/main" id="{3983949E-858A-47DC-81AE-89D6517D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7C95"/>
                </a:solidFill>
              </a:defRPr>
            </a:pPr>
            <a:r>
              <a:rPr sz="2100" b="1">
                <a:solidFill>
                  <a:srgbClr val="127C95"/>
                </a:solidFill>
              </a:rPr>
              <a:t>02</a:t>
            </a:r>
          </a:p>
        </p:txBody>
      </p:sp>
      <p:sp>
        <p:nvSpPr>
          <p:cNvPr id="8" name="objective-head-1">
            <a:extLst xmlns:a="http://schemas.openxmlformats.org/drawingml/2006/main">
              <a:ext uri="{FF2B5EF4-FFF2-40B4-BE49-F238E27FC236}">
                <a16:creationId xmlns:a16="http://schemas.microsoft.com/office/drawing/2014/main" id="{C84D47BF-F87F-4875-AF57-3C804779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609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0505"/>
                </a:solidFill>
              </a:defRPr>
            </a:pPr>
            <a:r>
              <a:rPr sz="1950" b="1">
                <a:solidFill>
                  <a:srgbClr val="050505"/>
                </a:solidFill>
              </a:rPr>
              <a:t>Record</a:t>
            </a:r>
          </a:p>
        </p:txBody>
      </p:sp>
      <p:sp>
        <p:nvSpPr>
          <p:cNvPr id="9" name="objective-body-1">
            <a:extLst xmlns:a="http://schemas.openxmlformats.org/drawingml/2006/main">
              <a:ext uri="{FF2B5EF4-FFF2-40B4-BE49-F238E27FC236}">
                <a16:creationId xmlns:a16="http://schemas.microsoft.com/office/drawing/2014/main" id="{5F882C44-D336-47A0-AF78-F49801FC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289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866"/>
                </a:solidFill>
              </a:defRPr>
            </a:pPr>
            <a:r>
              <a:rPr sz="1650" b="0">
                <a:solidFill>
                  <a:srgbClr val="525866"/>
                </a:solidFill>
              </a:rPr>
              <a:t>Capture 12 valid hand samples for a gesture.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126332-24CF-4C6A-BA8E-37EEA0E8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1" name="objective-num-2">
            <a:extLst xmlns:a="http://schemas.openxmlformats.org/drawingml/2006/main">
              <a:ext uri="{FF2B5EF4-FFF2-40B4-BE49-F238E27FC236}">
                <a16:creationId xmlns:a16="http://schemas.microsoft.com/office/drawing/2014/main" id="{F255494A-769E-4ABD-891C-D24FB46D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7C95"/>
                </a:solidFill>
              </a:defRPr>
            </a:pPr>
            <a:r>
              <a:rPr sz="2100" b="1">
                <a:solidFill>
                  <a:srgbClr val="127C95"/>
                </a:solidFill>
              </a:rPr>
              <a:t>03</a:t>
            </a:r>
          </a:p>
        </p:txBody>
      </p:sp>
      <p:sp>
        <p:nvSpPr>
          <p:cNvPr id="12" name="objective-head-2">
            <a:extLst xmlns:a="http://schemas.openxmlformats.org/drawingml/2006/main">
              <a:ext uri="{FF2B5EF4-FFF2-40B4-BE49-F238E27FC236}">
                <a16:creationId xmlns:a16="http://schemas.microsoft.com/office/drawing/2014/main" id="{201C8913-9FFF-48E8-9B69-FBFA012F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52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0505"/>
                </a:solidFill>
              </a:defRPr>
            </a:pPr>
            <a:r>
              <a:rPr sz="1950" b="1">
                <a:solidFill>
                  <a:srgbClr val="050505"/>
                </a:solidFill>
              </a:rPr>
              <a:t>Train</a:t>
            </a:r>
          </a:p>
        </p:txBody>
      </p:sp>
      <p:sp>
        <p:nvSpPr>
          <p:cNvPr id="13" name="objective-body-2">
            <a:extLst xmlns:a="http://schemas.openxmlformats.org/drawingml/2006/main">
              <a:ext uri="{FF2B5EF4-FFF2-40B4-BE49-F238E27FC236}">
                <a16:creationId xmlns:a16="http://schemas.microsoft.com/office/drawing/2014/main" id="{B363757C-CD59-4804-BFC0-966016FD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718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866"/>
                </a:solidFill>
              </a:defRPr>
            </a:pPr>
            <a:r>
              <a:rPr sz="1650" b="0">
                <a:solidFill>
                  <a:srgbClr val="525866"/>
                </a:solidFill>
              </a:rPr>
              <a:t>Create a dataset and run a local training job.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029E7C-43A2-4961-AD6B-BF465AE5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5" name="objective-num-3">
            <a:extLst xmlns:a="http://schemas.openxmlformats.org/drawingml/2006/main">
              <a:ext uri="{FF2B5EF4-FFF2-40B4-BE49-F238E27FC236}">
                <a16:creationId xmlns:a16="http://schemas.microsoft.com/office/drawing/2014/main" id="{8CC70609-45D0-4C5A-B12B-CD7E3FFE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7C95"/>
                </a:solidFill>
              </a:defRPr>
            </a:pPr>
            <a:r>
              <a:rPr sz="2100" b="1">
                <a:solidFill>
                  <a:srgbClr val="127C95"/>
                </a:solidFill>
              </a:rPr>
              <a:t>04</a:t>
            </a:r>
          </a:p>
        </p:txBody>
      </p:sp>
      <p:sp>
        <p:nvSpPr>
          <p:cNvPr id="16" name="objective-head-3">
            <a:extLst xmlns:a="http://schemas.openxmlformats.org/drawingml/2006/main">
              <a:ext uri="{FF2B5EF4-FFF2-40B4-BE49-F238E27FC236}">
                <a16:creationId xmlns:a16="http://schemas.microsoft.com/office/drawing/2014/main" id="{7D4766DC-BB68-47BF-9C50-73D361F5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95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0505"/>
                </a:solidFill>
              </a:defRPr>
            </a:pPr>
            <a:r>
              <a:rPr sz="1950" b="1">
                <a:solidFill>
                  <a:srgbClr val="050505"/>
                </a:solidFill>
              </a:rPr>
              <a:t>Infer</a:t>
            </a:r>
          </a:p>
        </p:txBody>
      </p:sp>
      <p:sp>
        <p:nvSpPr>
          <p:cNvPr id="17" name="objective-body-3">
            <a:extLst xmlns:a="http://schemas.openxmlformats.org/drawingml/2006/main">
              <a:ext uri="{FF2B5EF4-FFF2-40B4-BE49-F238E27FC236}">
                <a16:creationId xmlns:a16="http://schemas.microsoft.com/office/drawing/2014/main" id="{AB17E893-9A63-4145-8DF8-C866D3A8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148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866"/>
                </a:solidFill>
              </a:defRPr>
            </a:pPr>
            <a:r>
              <a:rPr sz="1650" b="0">
                <a:solidFill>
                  <a:srgbClr val="525866"/>
                </a:solidFill>
              </a:rPr>
              <a:t>Predict gestures from live camera frames.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B8DF5A-2943-4B02-9D8F-BABDCAD0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9" name="objective-num-4">
            <a:extLst xmlns:a="http://schemas.openxmlformats.org/drawingml/2006/main">
              <a:ext uri="{FF2B5EF4-FFF2-40B4-BE49-F238E27FC236}">
                <a16:creationId xmlns:a16="http://schemas.microsoft.com/office/drawing/2014/main" id="{A193D8A6-14DC-4628-B33F-3B5EE7BD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7C95"/>
                </a:solidFill>
              </a:defRPr>
            </a:pPr>
            <a:r>
              <a:rPr sz="2100" b="1">
                <a:solidFill>
                  <a:srgbClr val="127C95"/>
                </a:solidFill>
              </a:rPr>
              <a:t>05</a:t>
            </a:r>
          </a:p>
        </p:txBody>
      </p:sp>
      <p:sp>
        <p:nvSpPr>
          <p:cNvPr id="20" name="objective-head-4">
            <a:extLst xmlns:a="http://schemas.openxmlformats.org/drawingml/2006/main">
              <a:ext uri="{FF2B5EF4-FFF2-40B4-BE49-F238E27FC236}">
                <a16:creationId xmlns:a16="http://schemas.microsoft.com/office/drawing/2014/main" id="{069D02E4-7A7D-4B48-83D9-D9B61EA4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38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0505"/>
                </a:solidFill>
              </a:defRPr>
            </a:pPr>
            <a:r>
              <a:rPr sz="1950" b="1">
                <a:solidFill>
                  <a:srgbClr val="050505"/>
                </a:solidFill>
              </a:rPr>
              <a:t>Act</a:t>
            </a:r>
          </a:p>
        </p:txBody>
      </p:sp>
      <p:sp>
        <p:nvSpPr>
          <p:cNvPr id="21" name="objective-body-4">
            <a:extLst xmlns:a="http://schemas.openxmlformats.org/drawingml/2006/main">
              <a:ext uri="{FF2B5EF4-FFF2-40B4-BE49-F238E27FC236}">
                <a16:creationId xmlns:a16="http://schemas.microsoft.com/office/drawing/2014/main" id="{3D71BAFD-EA2D-489B-B19E-76E36268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57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866"/>
                </a:solidFill>
              </a:defRPr>
            </a:pPr>
            <a:r>
              <a:rPr sz="1650" b="0">
                <a:solidFill>
                  <a:srgbClr val="525866"/>
                </a:solidFill>
              </a:rPr>
              <a:t>Trigger desktop actions after a confident match.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8B4E14-2796-47CB-8EFB-4E667481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3" name="footer-3">
            <a:extLst xmlns:a="http://schemas.openxmlformats.org/drawingml/2006/main">
              <a:ext uri="{FF2B5EF4-FFF2-40B4-BE49-F238E27FC236}">
                <a16:creationId xmlns:a16="http://schemas.microsoft.com/office/drawing/2014/main" id="{D4616707-730A-451A-97FC-351FBD72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6"/>
                </a:solidFill>
              </a:defRPr>
            </a:pPr>
            <a:r>
              <a:rPr sz="1050" b="0">
                <a:solidFill>
                  <a:srgbClr val="525866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386712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66380058-C4EE-4F09-87F4-DC16250F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7C95"/>
                </a:solidFill>
              </a:defRPr>
            </a:pPr>
            <a:r>
              <a:rPr sz="1275" b="1">
                <a:solidFill>
                  <a:srgbClr val="127C95"/>
                </a:solidFill>
              </a:rPr>
              <a:t>VISIONGUARD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CFDB28D-B0CD-4293-8422-9902F8DB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981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The architecture separates UI, desktop control, and AI work</a:t>
            </a:r>
          </a:p>
        </p:txBody>
      </p:sp>
      <p:sp>
        <p:nvSpPr>
          <p:cNvPr id="3" name="flow-0">
            <a:extLst xmlns:a="http://schemas.openxmlformats.org/drawingml/2006/main">
              <a:ext uri="{FF2B5EF4-FFF2-40B4-BE49-F238E27FC236}">
                <a16:creationId xmlns:a16="http://schemas.microsoft.com/office/drawing/2014/main" id="{B44716AA-1809-428D-B8EA-AEC77A91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3431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low-0-title">
            <a:extLst xmlns:a="http://schemas.openxmlformats.org/drawingml/2006/main">
              <a:ext uri="{FF2B5EF4-FFF2-40B4-BE49-F238E27FC236}">
                <a16:creationId xmlns:a16="http://schemas.microsoft.com/office/drawing/2014/main" id="{129E3507-5B38-4CF6-B934-76B86F4B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React renderer</a:t>
            </a:r>
          </a:p>
        </p:txBody>
      </p:sp>
      <p:sp>
        <p:nvSpPr>
          <p:cNvPr id="5" name="flow-0-body">
            <a:extLst xmlns:a="http://schemas.openxmlformats.org/drawingml/2006/main">
              <a:ext uri="{FF2B5EF4-FFF2-40B4-BE49-F238E27FC236}">
                <a16:creationId xmlns:a16="http://schemas.microsoft.com/office/drawing/2014/main" id="{74D9D8D6-9DD3-4682-9AC5-677EBD4E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6"/>
                </a:solidFill>
              </a:defRPr>
            </a:pPr>
            <a:r>
              <a:rPr sz="1200" b="0">
                <a:solidFill>
                  <a:srgbClr val="525866"/>
                </a:solidFill>
              </a:rPr>
              <a:t>Camera UI, gesture library, model health</a:t>
            </a:r>
          </a:p>
        </p:txBody>
      </p:sp>
      <p:sp>
        <p:nvSpPr>
          <p:cNvPr id="6" name="flow-1">
            <a:extLst xmlns:a="http://schemas.openxmlformats.org/drawingml/2006/main">
              <a:ext uri="{FF2B5EF4-FFF2-40B4-BE49-F238E27FC236}">
                <a16:creationId xmlns:a16="http://schemas.microsoft.com/office/drawing/2014/main" id="{2B574917-BAC9-47AA-B806-A117DC2B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23431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flow-1-title">
            <a:extLst xmlns:a="http://schemas.openxmlformats.org/drawingml/2006/main">
              <a:ext uri="{FF2B5EF4-FFF2-40B4-BE49-F238E27FC236}">
                <a16:creationId xmlns:a16="http://schemas.microsoft.com/office/drawing/2014/main" id="{0771C668-9D17-4153-BB89-88A155D6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479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Electron main</a:t>
            </a:r>
          </a:p>
        </p:txBody>
      </p:sp>
      <p:sp>
        <p:nvSpPr>
          <p:cNvPr id="8" name="flow-1-body">
            <a:extLst xmlns:a="http://schemas.openxmlformats.org/drawingml/2006/main">
              <a:ext uri="{FF2B5EF4-FFF2-40B4-BE49-F238E27FC236}">
                <a16:creationId xmlns:a16="http://schemas.microsoft.com/office/drawing/2014/main" id="{471F08AD-54DC-473A-B71F-885A7DB6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28950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6"/>
                </a:solidFill>
              </a:defRPr>
            </a:pPr>
            <a:r>
              <a:rPr sz="1200" b="0">
                <a:solidFill>
                  <a:srgbClr val="525866"/>
                </a:solidFill>
              </a:rPr>
              <a:t>IPC, sample files, desktop actions</a:t>
            </a:r>
          </a:p>
        </p:txBody>
      </p:sp>
      <p:sp>
        <p:nvSpPr>
          <p:cNvPr id="9" name="flow-2">
            <a:extLst xmlns:a="http://schemas.openxmlformats.org/drawingml/2006/main">
              <a:ext uri="{FF2B5EF4-FFF2-40B4-BE49-F238E27FC236}">
                <a16:creationId xmlns:a16="http://schemas.microsoft.com/office/drawing/2014/main" id="{4E0767C0-35C3-449B-A26C-AE88A24C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76500"/>
            <a:ext cx="23431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flow-2-title">
            <a:extLst xmlns:a="http://schemas.openxmlformats.org/drawingml/2006/main">
              <a:ext uri="{FF2B5EF4-FFF2-40B4-BE49-F238E27FC236}">
                <a16:creationId xmlns:a16="http://schemas.microsoft.com/office/drawing/2014/main" id="{9EA7B4EB-D117-478E-85FF-63ED4169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479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Shared kernel</a:t>
            </a:r>
          </a:p>
        </p:txBody>
      </p:sp>
      <p:sp>
        <p:nvSpPr>
          <p:cNvPr id="11" name="flow-2-body">
            <a:extLst xmlns:a="http://schemas.openxmlformats.org/drawingml/2006/main">
              <a:ext uri="{FF2B5EF4-FFF2-40B4-BE49-F238E27FC236}">
                <a16:creationId xmlns:a16="http://schemas.microsoft.com/office/drawing/2014/main" id="{A14AC5A0-8D83-41C0-A2EE-5751AF83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28950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6"/>
                </a:solidFill>
              </a:defRPr>
            </a:pPr>
            <a:r>
              <a:rPr sz="1200" b="0">
                <a:solidFill>
                  <a:srgbClr val="525866"/>
                </a:solidFill>
              </a:rPr>
              <a:t>Typed AI service contract</a:t>
            </a:r>
          </a:p>
        </p:txBody>
      </p:sp>
      <p:sp>
        <p:nvSpPr>
          <p:cNvPr id="12" name="flow-3">
            <a:extLst xmlns:a="http://schemas.openxmlformats.org/drawingml/2006/main">
              <a:ext uri="{FF2B5EF4-FFF2-40B4-BE49-F238E27FC236}">
                <a16:creationId xmlns:a16="http://schemas.microsoft.com/office/drawing/2014/main" id="{3CAE9BEF-9A48-4175-BAC3-35903C12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76500"/>
            <a:ext cx="23431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flow-3-title">
            <a:extLst xmlns:a="http://schemas.openxmlformats.org/drawingml/2006/main">
              <a:ext uri="{FF2B5EF4-FFF2-40B4-BE49-F238E27FC236}">
                <a16:creationId xmlns:a16="http://schemas.microsoft.com/office/drawing/2014/main" id="{CC12C65B-A7A6-4A61-AD75-49AC1F59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FastAPI service</a:t>
            </a:r>
          </a:p>
        </p:txBody>
      </p:sp>
      <p:sp>
        <p:nvSpPr>
          <p:cNvPr id="14" name="flow-3-body">
            <a:extLst xmlns:a="http://schemas.openxmlformats.org/drawingml/2006/main">
              <a:ext uri="{FF2B5EF4-FFF2-40B4-BE49-F238E27FC236}">
                <a16:creationId xmlns:a16="http://schemas.microsoft.com/office/drawing/2014/main" id="{6F973ED7-AE56-4DA7-BF9B-0B659A34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28950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6"/>
                </a:solidFill>
              </a:defRPr>
            </a:pPr>
            <a:r>
              <a:rPr sz="1200" b="0">
                <a:solidFill>
                  <a:srgbClr val="525866"/>
                </a:solidFill>
              </a:rPr>
              <a:t>Datasets, jobs, hand checks, inference</a:t>
            </a:r>
          </a:p>
        </p:txBody>
      </p:sp>
      <p:sp>
        <p:nvSpPr>
          <p:cNvPr id="15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3754F5D1-CDC3-4CDC-AF65-067E6325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143250"/>
            <a:ext cx="190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27C95"/>
          </a:solidFill>
          <a:ln xmlns:a="http://schemas.openxmlformats.org/drawingml/2006/main" w="0">
            <a:solidFill>
              <a:srgbClr val="127C95"/>
            </a:solidFill>
            <a:prstDash val="solid"/>
          </a:ln>
        </p:spPr>
      </p:sp>
      <p:sp>
        <p:nvSpPr>
          <p:cNvPr id="16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857AC561-57DD-4281-8D3E-3962E223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143250"/>
            <a:ext cx="190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27C95"/>
          </a:solidFill>
          <a:ln xmlns:a="http://schemas.openxmlformats.org/drawingml/2006/main" w="0">
            <a:solidFill>
              <a:srgbClr val="127C95"/>
            </a:solidFill>
            <a:prstDash val="solid"/>
          </a:ln>
        </p:spPr>
      </p:sp>
      <p:sp>
        <p:nvSpPr>
          <p:cNvPr id="17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4D2DC8D1-88EB-4B22-AB93-57AA714B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143250"/>
            <a:ext cx="190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27C95"/>
          </a:solidFill>
          <a:ln xmlns:a="http://schemas.openxmlformats.org/drawingml/2006/main" w="0">
            <a:solidFill>
              <a:srgbClr val="127C95"/>
            </a:solidFill>
            <a:prstDash val="solid"/>
          </a:ln>
        </p:spPr>
      </p:sp>
      <p:sp>
        <p:nvSpPr>
          <p:cNvPr id="18" name="architecture-note">
            <a:extLst xmlns:a="http://schemas.openxmlformats.org/drawingml/2006/main">
              <a:ext uri="{FF2B5EF4-FFF2-40B4-BE49-F238E27FC236}">
                <a16:creationId xmlns:a16="http://schemas.microsoft.com/office/drawing/2014/main" id="{B116F047-5E1F-4DDA-9040-A19CFC5D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29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5866"/>
                </a:solidFill>
              </a:defRPr>
            </a:pPr>
            <a:r>
              <a:rPr sz="1800" b="0">
                <a:solidFill>
                  <a:srgbClr val="525866"/>
                </a:solidFill>
              </a:rPr>
              <a:t>Camera frames and model calls stay on the local machine through http://127.0.0.1:8765.</a:t>
            </a:r>
          </a:p>
        </p:txBody>
      </p:sp>
      <p:sp>
        <p:nvSpPr>
          <p:cNvPr id="19" name="footer-4">
            <a:extLst xmlns:a="http://schemas.openxmlformats.org/drawingml/2006/main">
              <a:ext uri="{FF2B5EF4-FFF2-40B4-BE49-F238E27FC236}">
                <a16:creationId xmlns:a16="http://schemas.microsoft.com/office/drawing/2014/main" id="{DB32CDE1-00FD-44D6-9BE3-61ED4F36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6"/>
                </a:solidFill>
              </a:defRPr>
            </a:pPr>
            <a:r>
              <a:rPr sz="1050" b="0">
                <a:solidFill>
                  <a:srgbClr val="525866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241825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4E1D8AA8-EEB2-45FD-87B3-04F0F413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7C95"/>
                </a:solidFill>
              </a:defRPr>
            </a:pPr>
            <a:r>
              <a:rPr sz="1275" b="1">
                <a:solidFill>
                  <a:srgbClr val="127C95"/>
                </a:solidFill>
              </a:rPr>
              <a:t>VISIONGUARD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D4F067-2ED9-4405-83CA-A0561386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981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The main workflow turns samples into confident actions</a:t>
            </a:r>
          </a:p>
        </p:txBody>
      </p:sp>
      <p:sp>
        <p:nvSpPr>
          <p:cNvPr id="3" name="flow-0">
            <a:extLst xmlns:a="http://schemas.openxmlformats.org/drawingml/2006/main">
              <a:ext uri="{FF2B5EF4-FFF2-40B4-BE49-F238E27FC236}">
                <a16:creationId xmlns:a16="http://schemas.microsoft.com/office/drawing/2014/main" id="{C59F7161-D380-4B9A-B420-6AB31873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3431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low-0-title">
            <a:extLst xmlns:a="http://schemas.openxmlformats.org/drawingml/2006/main">
              <a:ext uri="{FF2B5EF4-FFF2-40B4-BE49-F238E27FC236}">
                <a16:creationId xmlns:a16="http://schemas.microsoft.com/office/drawing/2014/main" id="{535B893F-E138-4099-AD03-1BAB82D6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Capture</a:t>
            </a:r>
          </a:p>
        </p:txBody>
      </p:sp>
      <p:sp>
        <p:nvSpPr>
          <p:cNvPr id="5" name="flow-0-body">
            <a:extLst xmlns:a="http://schemas.openxmlformats.org/drawingml/2006/main">
              <a:ext uri="{FF2B5EF4-FFF2-40B4-BE49-F238E27FC236}">
                <a16:creationId xmlns:a16="http://schemas.microsoft.com/office/drawing/2014/main" id="{240BCC7E-9531-4B21-93B1-6A087A64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200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6"/>
                </a:solidFill>
              </a:defRPr>
            </a:pPr>
            <a:r>
              <a:rPr sz="1200" b="0">
                <a:solidFill>
                  <a:srgbClr val="525866"/>
                </a:solidFill>
              </a:rPr>
              <a:t>User shows a hand gesture to the camera.</a:t>
            </a:r>
          </a:p>
        </p:txBody>
      </p:sp>
      <p:sp>
        <p:nvSpPr>
          <p:cNvPr id="6" name="flow-1">
            <a:extLst xmlns:a="http://schemas.openxmlformats.org/drawingml/2006/main">
              <a:ext uri="{FF2B5EF4-FFF2-40B4-BE49-F238E27FC236}">
                <a16:creationId xmlns:a16="http://schemas.microsoft.com/office/drawing/2014/main" id="{4C43E987-59F0-4F48-82E5-3DAF0FE4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62200"/>
            <a:ext cx="23431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flow-1-title">
            <a:extLst xmlns:a="http://schemas.openxmlformats.org/drawingml/2006/main">
              <a:ext uri="{FF2B5EF4-FFF2-40B4-BE49-F238E27FC236}">
                <a16:creationId xmlns:a16="http://schemas.microsoft.com/office/drawing/2014/main" id="{C0B729BC-C8B4-471B-89E1-40143EC0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336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Validate</a:t>
            </a:r>
          </a:p>
        </p:txBody>
      </p:sp>
      <p:sp>
        <p:nvSpPr>
          <p:cNvPr id="8" name="flow-1-body">
            <a:extLst xmlns:a="http://schemas.openxmlformats.org/drawingml/2006/main">
              <a:ext uri="{FF2B5EF4-FFF2-40B4-BE49-F238E27FC236}">
                <a16:creationId xmlns:a16="http://schemas.microsoft.com/office/drawing/2014/main" id="{876C2508-5B34-42AC-842B-5B9D9F98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14650"/>
            <a:ext cx="200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6"/>
                </a:solidFill>
              </a:defRPr>
            </a:pPr>
            <a:r>
              <a:rPr sz="1200" b="0">
                <a:solidFill>
                  <a:srgbClr val="525866"/>
                </a:solidFill>
              </a:rPr>
              <a:t>Hand presence is checked before saving samples.</a:t>
            </a:r>
          </a:p>
        </p:txBody>
      </p:sp>
      <p:sp>
        <p:nvSpPr>
          <p:cNvPr id="9" name="flow-2">
            <a:extLst xmlns:a="http://schemas.openxmlformats.org/drawingml/2006/main">
              <a:ext uri="{FF2B5EF4-FFF2-40B4-BE49-F238E27FC236}">
                <a16:creationId xmlns:a16="http://schemas.microsoft.com/office/drawing/2014/main" id="{7784C8C1-1C72-4EF2-B453-D9CBD243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62200"/>
            <a:ext cx="23431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flow-2-title">
            <a:extLst xmlns:a="http://schemas.openxmlformats.org/drawingml/2006/main">
              <a:ext uri="{FF2B5EF4-FFF2-40B4-BE49-F238E27FC236}">
                <a16:creationId xmlns:a16="http://schemas.microsoft.com/office/drawing/2014/main" id="{E999192E-AE44-4B97-B55D-B33A1035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336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Train</a:t>
            </a:r>
          </a:p>
        </p:txBody>
      </p:sp>
      <p:sp>
        <p:nvSpPr>
          <p:cNvPr id="11" name="flow-2-body">
            <a:extLst xmlns:a="http://schemas.openxmlformats.org/drawingml/2006/main">
              <a:ext uri="{FF2B5EF4-FFF2-40B4-BE49-F238E27FC236}">
                <a16:creationId xmlns:a16="http://schemas.microsoft.com/office/drawing/2014/main" id="{B68A1EB2-9887-484A-85BD-C5B3041E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14650"/>
            <a:ext cx="200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6"/>
                </a:solidFill>
              </a:defRPr>
            </a:pPr>
            <a:r>
              <a:rPr sz="1200" b="0">
                <a:solidFill>
                  <a:srgbClr val="525866"/>
                </a:solidFill>
              </a:rPr>
              <a:t>Samples become a local gesture model artifact.</a:t>
            </a:r>
          </a:p>
        </p:txBody>
      </p:sp>
      <p:sp>
        <p:nvSpPr>
          <p:cNvPr id="12" name="flow-3">
            <a:extLst xmlns:a="http://schemas.openxmlformats.org/drawingml/2006/main">
              <a:ext uri="{FF2B5EF4-FFF2-40B4-BE49-F238E27FC236}">
                <a16:creationId xmlns:a16="http://schemas.microsoft.com/office/drawing/2014/main" id="{71D693CB-DF58-4625-9508-C83D5B31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62200"/>
            <a:ext cx="23431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flow-3-title">
            <a:extLst xmlns:a="http://schemas.openxmlformats.org/drawingml/2006/main">
              <a:ext uri="{FF2B5EF4-FFF2-40B4-BE49-F238E27FC236}">
                <a16:creationId xmlns:a16="http://schemas.microsoft.com/office/drawing/2014/main" id="{C7E0D86F-9B27-4A98-BD49-F97BE7BB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336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Execute</a:t>
            </a:r>
          </a:p>
        </p:txBody>
      </p:sp>
      <p:sp>
        <p:nvSpPr>
          <p:cNvPr id="14" name="flow-3-body">
            <a:extLst xmlns:a="http://schemas.openxmlformats.org/drawingml/2006/main">
              <a:ext uri="{FF2B5EF4-FFF2-40B4-BE49-F238E27FC236}">
                <a16:creationId xmlns:a16="http://schemas.microsoft.com/office/drawing/2014/main" id="{595DD490-7304-43FB-A7D7-71065D7E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14650"/>
            <a:ext cx="200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6"/>
                </a:solidFill>
              </a:defRPr>
            </a:pPr>
            <a:r>
              <a:rPr sz="1200" b="0">
                <a:solidFill>
                  <a:srgbClr val="525866"/>
                </a:solidFill>
              </a:rPr>
              <a:t>High-confidence matches trigger mapped actions.</a:t>
            </a:r>
          </a:p>
        </p:txBody>
      </p:sp>
      <p:sp>
        <p:nvSpPr>
          <p:cNvPr id="15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DEFF5099-CF7A-495E-945E-8B365B6C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105150"/>
            <a:ext cx="190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27C95"/>
          </a:solidFill>
          <a:ln xmlns:a="http://schemas.openxmlformats.org/drawingml/2006/main" w="0">
            <a:solidFill>
              <a:srgbClr val="127C95"/>
            </a:solidFill>
            <a:prstDash val="solid"/>
          </a:ln>
        </p:spPr>
      </p:sp>
      <p:sp>
        <p:nvSpPr>
          <p:cNvPr id="16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89DA6D49-9C63-4C1B-B549-DD9FB1FF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105150"/>
            <a:ext cx="190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27C95"/>
          </a:solidFill>
          <a:ln xmlns:a="http://schemas.openxmlformats.org/drawingml/2006/main" w="0">
            <a:solidFill>
              <a:srgbClr val="127C95"/>
            </a:solidFill>
            <a:prstDash val="solid"/>
          </a:ln>
        </p:spPr>
      </p:sp>
      <p:sp>
        <p:nvSpPr>
          <p:cNvPr id="17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56E1B6E5-C538-4C01-9978-FB110EC6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105150"/>
            <a:ext cx="190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27C95"/>
          </a:solidFill>
          <a:ln xmlns:a="http://schemas.openxmlformats.org/drawingml/2006/main" w="0">
            <a:solidFill>
              <a:srgbClr val="127C95"/>
            </a:solidFill>
            <a:prstDash val="solid"/>
          </a:ln>
        </p:spPr>
      </p:sp>
      <p:sp>
        <p:nvSpPr>
          <p:cNvPr id="18" name="threshold">
            <a:extLst xmlns:a="http://schemas.openxmlformats.org/drawingml/2006/main">
              <a:ext uri="{FF2B5EF4-FFF2-40B4-BE49-F238E27FC236}">
                <a16:creationId xmlns:a16="http://schemas.microsoft.com/office/drawing/2014/main" id="{68A7447B-66FE-441D-8545-84E74270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6250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7C95"/>
                </a:solidFill>
              </a:defRPr>
            </a:pPr>
            <a:r>
              <a:rPr sz="1800" b="1">
                <a:solidFill>
                  <a:srgbClr val="127C95"/>
                </a:solidFill>
              </a:rPr>
              <a:t>Execution threshold: 0.92 confidence with a cooldown to avoid repeated commands.</a:t>
            </a:r>
          </a:p>
        </p:txBody>
      </p:sp>
      <p:sp>
        <p:nvSpPr>
          <p:cNvPr id="19" name="footer-5">
            <a:extLst xmlns:a="http://schemas.openxmlformats.org/drawingml/2006/main">
              <a:ext uri="{FF2B5EF4-FFF2-40B4-BE49-F238E27FC236}">
                <a16:creationId xmlns:a16="http://schemas.microsoft.com/office/drawing/2014/main" id="{1543D58F-3F4C-4573-A07C-B7D1B520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6"/>
                </a:solidFill>
              </a:defRPr>
            </a:pPr>
            <a:r>
              <a:rPr sz="1050" b="0">
                <a:solidFill>
                  <a:srgbClr val="525866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843588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EDEAB1CB-DF99-4F23-833D-20CB31B2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7C95"/>
                </a:solidFill>
              </a:defRPr>
            </a:pPr>
            <a:r>
              <a:rPr sz="1275" b="1">
                <a:solidFill>
                  <a:srgbClr val="127C95"/>
                </a:solidFill>
              </a:rPr>
              <a:t>VISIONGUARD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AB5C761-B99A-4913-BB6E-8585CCB5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981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The live monitor makes system state visible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54bc478d9e4529"/>
          <a:srcRect xmlns:a="http://schemas.openxmlformats.org/drawingml/2006/main" l="0" t="8857" r="0" b="88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695450"/>
            <a:ext cx="7334250" cy="4191000"/>
          </a:xfrm>
          <a:prstGeom xmlns:a="http://schemas.openxmlformats.org/drawingml/2006/main" prst="roundRect">
            <a:avLst>
              <a:gd name="adj" fmla="val 1818"/>
            </a:avLst>
          </a:prstGeom>
        </p:spPr>
      </p:pic>
      <p:sp>
        <p:nvSpPr>
          <p:cNvPr id="4" name="monitor-notes-head-0">
            <a:extLst xmlns:a="http://schemas.openxmlformats.org/drawingml/2006/main">
              <a:ext uri="{FF2B5EF4-FFF2-40B4-BE49-F238E27FC236}">
                <a16:creationId xmlns:a16="http://schemas.microsoft.com/office/drawing/2014/main" id="{D5FB6E46-AE18-4E69-AD1F-BBBBAC58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62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Readiness</a:t>
            </a:r>
          </a:p>
        </p:txBody>
      </p:sp>
      <p:sp>
        <p:nvSpPr>
          <p:cNvPr id="5" name="monitor-notes-body-0">
            <a:extLst xmlns:a="http://schemas.openxmlformats.org/drawingml/2006/main">
              <a:ext uri="{FF2B5EF4-FFF2-40B4-BE49-F238E27FC236}">
                <a16:creationId xmlns:a16="http://schemas.microsoft.com/office/drawing/2014/main" id="{3CE558BA-8FA4-471C-A9AF-F932E89D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86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5866"/>
                </a:solidFill>
              </a:defRPr>
            </a:pPr>
            <a:r>
              <a:rPr sz="1275" b="0">
                <a:solidFill>
                  <a:srgbClr val="525866"/>
                </a:solidFill>
              </a:rPr>
              <a:t>Camera, AI service, trained model, and inference state are visible.</a:t>
            </a:r>
          </a:p>
        </p:txBody>
      </p:sp>
      <p:sp>
        <p:nvSpPr>
          <p:cNvPr id="6" name="monitor-notes-head-1">
            <a:extLst xmlns:a="http://schemas.openxmlformats.org/drawingml/2006/main">
              <a:ext uri="{FF2B5EF4-FFF2-40B4-BE49-F238E27FC236}">
                <a16:creationId xmlns:a16="http://schemas.microsoft.com/office/drawing/2014/main" id="{1F2DFD23-B591-467F-9C44-0E81DF56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90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Feedback</a:t>
            </a:r>
          </a:p>
        </p:txBody>
      </p:sp>
      <p:sp>
        <p:nvSpPr>
          <p:cNvPr id="7" name="monitor-notes-body-1">
            <a:extLst xmlns:a="http://schemas.openxmlformats.org/drawingml/2006/main">
              <a:ext uri="{FF2B5EF4-FFF2-40B4-BE49-F238E27FC236}">
                <a16:creationId xmlns:a16="http://schemas.microsoft.com/office/drawing/2014/main" id="{F9CAF064-4627-4E5E-9358-93ECA154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147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5866"/>
                </a:solidFill>
              </a:defRPr>
            </a:pPr>
            <a:r>
              <a:rPr sz="1275" b="0">
                <a:solidFill>
                  <a:srgbClr val="525866"/>
                </a:solidFill>
              </a:rPr>
              <a:t>Prediction, confidence, model health, and event timeline are shown together.</a:t>
            </a:r>
          </a:p>
        </p:txBody>
      </p:sp>
      <p:sp>
        <p:nvSpPr>
          <p:cNvPr id="8" name="monitor-notes-head-2">
            <a:extLst xmlns:a="http://schemas.openxmlformats.org/drawingml/2006/main">
              <a:ext uri="{FF2B5EF4-FFF2-40B4-BE49-F238E27FC236}">
                <a16:creationId xmlns:a16="http://schemas.microsoft.com/office/drawing/2014/main" id="{747E4176-27AE-4C97-B34A-E94D322A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19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Control</a:t>
            </a:r>
          </a:p>
        </p:txBody>
      </p:sp>
      <p:sp>
        <p:nvSpPr>
          <p:cNvPr id="9" name="monitor-notes-body-2">
            <a:extLst xmlns:a="http://schemas.openxmlformats.org/drawingml/2006/main">
              <a:ext uri="{FF2B5EF4-FFF2-40B4-BE49-F238E27FC236}">
                <a16:creationId xmlns:a16="http://schemas.microsoft.com/office/drawing/2014/main" id="{AE21432D-E6E6-4993-82B3-4D00AD1B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434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5866"/>
                </a:solidFill>
              </a:defRPr>
            </a:pPr>
            <a:r>
              <a:rPr sz="1275" b="0">
                <a:solidFill>
                  <a:srgbClr val="525866"/>
                </a:solidFill>
              </a:rPr>
              <a:t>The user starts sessions, calibrates, exports, and changes views.</a:t>
            </a:r>
          </a:p>
        </p:txBody>
      </p:sp>
      <p:sp>
        <p:nvSpPr>
          <p:cNvPr id="10" name="footer-6">
            <a:extLst xmlns:a="http://schemas.openxmlformats.org/drawingml/2006/main">
              <a:ext uri="{FF2B5EF4-FFF2-40B4-BE49-F238E27FC236}">
                <a16:creationId xmlns:a16="http://schemas.microsoft.com/office/drawing/2014/main" id="{6FA0F95F-3C5B-4366-8215-B5E80FB1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6"/>
                </a:solidFill>
              </a:defRPr>
            </a:pPr>
            <a:r>
              <a:rPr sz="1050" b="0">
                <a:solidFill>
                  <a:srgbClr val="525866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454718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823C5E09-9E31-4DF4-96FF-55002C93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7C95"/>
                </a:solidFill>
              </a:defRPr>
            </a:pPr>
            <a:r>
              <a:rPr sz="1275" b="1">
                <a:solidFill>
                  <a:srgbClr val="127C95"/>
                </a:solidFill>
              </a:rPr>
              <a:t>VISIONGUARD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965A3B-61F2-4BD8-A582-3FD3AD07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981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The gesture view connects recording, mapping, and training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ac497202544ff1"/>
          <a:srcRect xmlns:a="http://schemas.openxmlformats.org/drawingml/2006/main" l="0" t="8857" r="0" b="88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695450"/>
            <a:ext cx="7334250" cy="4191000"/>
          </a:xfrm>
          <a:prstGeom xmlns:a="http://schemas.openxmlformats.org/drawingml/2006/main" prst="roundRect">
            <a:avLst>
              <a:gd name="adj" fmla="val 1818"/>
            </a:avLst>
          </a:prstGeom>
        </p:spPr>
      </p:pic>
      <p:sp>
        <p:nvSpPr>
          <p:cNvPr id="4" name="gesture-notes-head-0">
            <a:extLst xmlns:a="http://schemas.openxmlformats.org/drawingml/2006/main">
              <a:ext uri="{FF2B5EF4-FFF2-40B4-BE49-F238E27FC236}">
                <a16:creationId xmlns:a16="http://schemas.microsoft.com/office/drawing/2014/main" id="{141163CD-B0D0-408A-A166-6CF17795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240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Six action types</a:t>
            </a:r>
          </a:p>
        </p:txBody>
      </p:sp>
      <p:sp>
        <p:nvSpPr>
          <p:cNvPr id="5" name="gesture-notes-body-0">
            <a:extLst xmlns:a="http://schemas.openxmlformats.org/drawingml/2006/main">
              <a:ext uri="{FF2B5EF4-FFF2-40B4-BE49-F238E27FC236}">
                <a16:creationId xmlns:a16="http://schemas.microsoft.com/office/drawing/2014/main" id="{DDA3F177-3365-4A9D-9359-A8A88CFB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479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5866"/>
                </a:solidFill>
              </a:defRPr>
            </a:pPr>
            <a:r>
              <a:rPr sz="1275" b="0">
                <a:solidFill>
                  <a:srgbClr val="525866"/>
                </a:solidFill>
              </a:rPr>
              <a:t>Open app, volume down, volume up, mute, shortcut, and mouse click.</a:t>
            </a:r>
          </a:p>
        </p:txBody>
      </p:sp>
      <p:sp>
        <p:nvSpPr>
          <p:cNvPr id="6" name="gesture-notes-head-1">
            <a:extLst xmlns:a="http://schemas.openxmlformats.org/drawingml/2006/main">
              <a:ext uri="{FF2B5EF4-FFF2-40B4-BE49-F238E27FC236}">
                <a16:creationId xmlns:a16="http://schemas.microsoft.com/office/drawing/2014/main" id="{903974E1-62AD-4041-8C0C-6BE1604B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908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Sample rule</a:t>
            </a:r>
          </a:p>
        </p:txBody>
      </p:sp>
      <p:sp>
        <p:nvSpPr>
          <p:cNvPr id="7" name="gesture-notes-body-1">
            <a:extLst xmlns:a="http://schemas.openxmlformats.org/drawingml/2006/main">
              <a:ext uri="{FF2B5EF4-FFF2-40B4-BE49-F238E27FC236}">
                <a16:creationId xmlns:a16="http://schemas.microsoft.com/office/drawing/2014/main" id="{89C4B819-CBD4-47C9-ABAC-469E2F50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147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5866"/>
                </a:solidFill>
              </a:defRPr>
            </a:pPr>
            <a:r>
              <a:rPr sz="1275" b="0">
                <a:solidFill>
                  <a:srgbClr val="525866"/>
                </a:solidFill>
              </a:rPr>
              <a:t>A gesture needs 12 captured hand samples before saving.</a:t>
            </a:r>
          </a:p>
        </p:txBody>
      </p:sp>
      <p:sp>
        <p:nvSpPr>
          <p:cNvPr id="8" name="gesture-notes-head-2">
            <a:extLst xmlns:a="http://schemas.openxmlformats.org/drawingml/2006/main">
              <a:ext uri="{FF2B5EF4-FFF2-40B4-BE49-F238E27FC236}">
                <a16:creationId xmlns:a16="http://schemas.microsoft.com/office/drawing/2014/main" id="{4D4260EE-128E-40E1-8ED8-6DFB042D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576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Training state</a:t>
            </a:r>
          </a:p>
        </p:txBody>
      </p:sp>
      <p:sp>
        <p:nvSpPr>
          <p:cNvPr id="9" name="gesture-notes-body-2">
            <a:extLst xmlns:a="http://schemas.openxmlformats.org/drawingml/2006/main">
              <a:ext uri="{FF2B5EF4-FFF2-40B4-BE49-F238E27FC236}">
                <a16:creationId xmlns:a16="http://schemas.microsoft.com/office/drawing/2014/main" id="{6BE18BAE-94BA-43A0-987D-F4E049AA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815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5866"/>
                </a:solidFill>
              </a:defRPr>
            </a:pPr>
            <a:r>
              <a:rPr sz="1275" b="0">
                <a:solidFill>
                  <a:srgbClr val="525866"/>
                </a:solidFill>
              </a:rPr>
              <a:t>Saved gestures move from draft or ready into training and trained states.</a:t>
            </a:r>
          </a:p>
        </p:txBody>
      </p:sp>
      <p:sp>
        <p:nvSpPr>
          <p:cNvPr id="10" name="footer-7">
            <a:extLst xmlns:a="http://schemas.openxmlformats.org/drawingml/2006/main">
              <a:ext uri="{FF2B5EF4-FFF2-40B4-BE49-F238E27FC236}">
                <a16:creationId xmlns:a16="http://schemas.microsoft.com/office/drawing/2014/main" id="{DEC4A880-0344-4B49-B32A-B9527AEE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6"/>
                </a:solidFill>
              </a:defRPr>
            </a:pPr>
            <a:r>
              <a:rPr sz="1050" b="0">
                <a:solidFill>
                  <a:srgbClr val="525866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310971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2E236352-71ED-4041-B862-3D09649F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7C95"/>
                </a:solidFill>
              </a:defRPr>
            </a:pPr>
            <a:r>
              <a:rPr sz="1275" b="1">
                <a:solidFill>
                  <a:srgbClr val="127C95"/>
                </a:solidFill>
              </a:rPr>
              <a:t>VISIONGUARD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8F5B67-1DF5-4D7F-BCC9-48B4D454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981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The AI service exposes a small contract for model operations</a:t>
            </a:r>
          </a:p>
        </p:txBody>
      </p:sp>
      <p:sp>
        <p:nvSpPr>
          <p:cNvPr id="3" name="contract-row-0">
            <a:extLst xmlns:a="http://schemas.openxmlformats.org/drawingml/2006/main">
              <a:ext uri="{FF2B5EF4-FFF2-40B4-BE49-F238E27FC236}">
                <a16:creationId xmlns:a16="http://schemas.microsoft.com/office/drawing/2014/main" id="{E92595E6-7DAA-45D1-BF8F-DAAEF2E2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906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contract-head-0">
            <a:extLst xmlns:a="http://schemas.openxmlformats.org/drawingml/2006/main">
              <a:ext uri="{FF2B5EF4-FFF2-40B4-BE49-F238E27FC236}">
                <a16:creationId xmlns:a16="http://schemas.microsoft.com/office/drawing/2014/main" id="{FBA9F210-C557-43D2-B6DB-53597EC3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Dataset</a:t>
            </a:r>
          </a:p>
        </p:txBody>
      </p:sp>
      <p:sp>
        <p:nvSpPr>
          <p:cNvPr id="5" name="contract-body-0">
            <a:extLst xmlns:a="http://schemas.openxmlformats.org/drawingml/2006/main">
              <a:ext uri="{FF2B5EF4-FFF2-40B4-BE49-F238E27FC236}">
                <a16:creationId xmlns:a16="http://schemas.microsoft.com/office/drawing/2014/main" id="{A428D023-8684-4E90-A7F3-23239028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33575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6"/>
                </a:solidFill>
              </a:defRPr>
            </a:pPr>
            <a:r>
              <a:rPr sz="1500" b="0">
                <a:solidFill>
                  <a:srgbClr val="525866"/>
                </a:solidFill>
              </a:rPr>
              <a:t>Create dataset from gesture labels and sample references</a:t>
            </a:r>
          </a:p>
        </p:txBody>
      </p:sp>
      <p:sp>
        <p:nvSpPr>
          <p:cNvPr id="6" name="contract-row-1">
            <a:extLst xmlns:a="http://schemas.openxmlformats.org/drawingml/2006/main">
              <a:ext uri="{FF2B5EF4-FFF2-40B4-BE49-F238E27FC236}">
                <a16:creationId xmlns:a16="http://schemas.microsoft.com/office/drawing/2014/main" id="{B388D85A-EDE0-4CC1-A2B1-C6F70E12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9906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contract-head-1">
            <a:extLst xmlns:a="http://schemas.openxmlformats.org/drawingml/2006/main">
              <a:ext uri="{FF2B5EF4-FFF2-40B4-BE49-F238E27FC236}">
                <a16:creationId xmlns:a16="http://schemas.microsoft.com/office/drawing/2014/main" id="{BB4B22AB-FA34-4EDE-BC0A-7FF39918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Training job</a:t>
            </a:r>
          </a:p>
        </p:txBody>
      </p:sp>
      <p:sp>
        <p:nvSpPr>
          <p:cNvPr id="8" name="contract-body-1">
            <a:extLst xmlns:a="http://schemas.openxmlformats.org/drawingml/2006/main">
              <a:ext uri="{FF2B5EF4-FFF2-40B4-BE49-F238E27FC236}">
                <a16:creationId xmlns:a16="http://schemas.microsoft.com/office/drawing/2014/main" id="{52F0C070-4152-4E0D-8D67-BC491072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19375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6"/>
                </a:solidFill>
              </a:defRPr>
            </a:pPr>
            <a:r>
              <a:rPr sz="1500" b="0">
                <a:solidFill>
                  <a:srgbClr val="525866"/>
                </a:solidFill>
              </a:rPr>
              <a:t>Queue, run, poll, and complete model training</a:t>
            </a:r>
          </a:p>
        </p:txBody>
      </p:sp>
      <p:sp>
        <p:nvSpPr>
          <p:cNvPr id="9" name="contract-row-2">
            <a:extLst xmlns:a="http://schemas.openxmlformats.org/drawingml/2006/main">
              <a:ext uri="{FF2B5EF4-FFF2-40B4-BE49-F238E27FC236}">
                <a16:creationId xmlns:a16="http://schemas.microsoft.com/office/drawing/2014/main" id="{A60CECAB-F5ED-44B2-AE66-9CC494CC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9906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contract-head-2">
            <a:extLst xmlns:a="http://schemas.openxmlformats.org/drawingml/2006/main">
              <a:ext uri="{FF2B5EF4-FFF2-40B4-BE49-F238E27FC236}">
                <a16:creationId xmlns:a16="http://schemas.microsoft.com/office/drawing/2014/main" id="{042D9479-99DE-46BA-95C9-CE7B4502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Model status</a:t>
            </a:r>
          </a:p>
        </p:txBody>
      </p:sp>
      <p:sp>
        <p:nvSpPr>
          <p:cNvPr id="11" name="contract-body-2">
            <a:extLst xmlns:a="http://schemas.openxmlformats.org/drawingml/2006/main">
              <a:ext uri="{FF2B5EF4-FFF2-40B4-BE49-F238E27FC236}">
                <a16:creationId xmlns:a16="http://schemas.microsoft.com/office/drawing/2014/main" id="{E9A5DCCE-D507-43AE-A7E4-3EC46D75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05175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6"/>
                </a:solidFill>
              </a:defRPr>
            </a:pPr>
            <a:r>
              <a:rPr sz="1500" b="0">
                <a:solidFill>
                  <a:srgbClr val="525866"/>
                </a:solidFill>
              </a:rPr>
              <a:t>Report not-trained, loading, ready, degraded, or error</a:t>
            </a:r>
          </a:p>
        </p:txBody>
      </p:sp>
      <p:sp>
        <p:nvSpPr>
          <p:cNvPr id="12" name="contract-row-3">
            <a:extLst xmlns:a="http://schemas.openxmlformats.org/drawingml/2006/main">
              <a:ext uri="{FF2B5EF4-FFF2-40B4-BE49-F238E27FC236}">
                <a16:creationId xmlns:a16="http://schemas.microsoft.com/office/drawing/2014/main" id="{D7C78F11-DFC1-4BFE-A624-81C27CD9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9906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contract-head-3">
            <a:extLst xmlns:a="http://schemas.openxmlformats.org/drawingml/2006/main">
              <a:ext uri="{FF2B5EF4-FFF2-40B4-BE49-F238E27FC236}">
                <a16:creationId xmlns:a16="http://schemas.microsoft.com/office/drawing/2014/main" id="{A1D83404-5EEE-400A-AD22-D0F05FAE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Hand presence</a:t>
            </a:r>
          </a:p>
        </p:txBody>
      </p:sp>
      <p:sp>
        <p:nvSpPr>
          <p:cNvPr id="14" name="contract-body-3">
            <a:extLst xmlns:a="http://schemas.openxmlformats.org/drawingml/2006/main">
              <a:ext uri="{FF2B5EF4-FFF2-40B4-BE49-F238E27FC236}">
                <a16:creationId xmlns:a16="http://schemas.microsoft.com/office/drawing/2014/main" id="{821D3AD2-751C-47C9-B621-8A3F4D67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90975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6"/>
                </a:solidFill>
              </a:defRPr>
            </a:pPr>
            <a:r>
              <a:rPr sz="1500" b="0">
                <a:solidFill>
                  <a:srgbClr val="525866"/>
                </a:solidFill>
              </a:rPr>
              <a:t>Reject frames that do not contain a detectable hand</a:t>
            </a:r>
          </a:p>
        </p:txBody>
      </p:sp>
      <p:sp>
        <p:nvSpPr>
          <p:cNvPr id="15" name="contract-row-4">
            <a:extLst xmlns:a="http://schemas.openxmlformats.org/drawingml/2006/main">
              <a:ext uri="{FF2B5EF4-FFF2-40B4-BE49-F238E27FC236}">
                <a16:creationId xmlns:a16="http://schemas.microsoft.com/office/drawing/2014/main" id="{203F4803-402E-480C-B163-CAFC3F86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9906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contract-head-4">
            <a:extLst xmlns:a="http://schemas.openxmlformats.org/drawingml/2006/main">
              <a:ext uri="{FF2B5EF4-FFF2-40B4-BE49-F238E27FC236}">
                <a16:creationId xmlns:a16="http://schemas.microsoft.com/office/drawing/2014/main" id="{430FFFF8-C6E7-4FB5-B253-3A7B756E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Inference</a:t>
            </a:r>
          </a:p>
        </p:txBody>
      </p:sp>
      <p:sp>
        <p:nvSpPr>
          <p:cNvPr id="17" name="contract-body-4">
            <a:extLst xmlns:a="http://schemas.openxmlformats.org/drawingml/2006/main">
              <a:ext uri="{FF2B5EF4-FFF2-40B4-BE49-F238E27FC236}">
                <a16:creationId xmlns:a16="http://schemas.microsoft.com/office/drawing/2014/main" id="{5B420010-50FB-49DB-A29D-AD96FB67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76775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6"/>
                </a:solidFill>
              </a:defRPr>
            </a:pPr>
            <a:r>
              <a:rPr sz="1500" b="0">
                <a:solidFill>
                  <a:srgbClr val="525866"/>
                </a:solidFill>
              </a:rPr>
              <a:t>Return predictions, best match, confidence, and latency</a:t>
            </a:r>
          </a:p>
        </p:txBody>
      </p:sp>
      <p:sp>
        <p:nvSpPr>
          <p:cNvPr id="18" name="footer-8">
            <a:extLst xmlns:a="http://schemas.openxmlformats.org/drawingml/2006/main">
              <a:ext uri="{FF2B5EF4-FFF2-40B4-BE49-F238E27FC236}">
                <a16:creationId xmlns:a16="http://schemas.microsoft.com/office/drawing/2014/main" id="{251FB807-8C48-4A78-BFA7-F422CB93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6"/>
                </a:solidFill>
              </a:defRPr>
            </a:pPr>
            <a:r>
              <a:rPr sz="1050" b="0">
                <a:solidFill>
                  <a:srgbClr val="525866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438109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779374E3-9E54-47FE-9C5A-970D903D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7C95"/>
                </a:solidFill>
              </a:defRPr>
            </a:pPr>
            <a:r>
              <a:rPr sz="1275" b="1">
                <a:solidFill>
                  <a:srgbClr val="127C95"/>
                </a:solidFill>
              </a:rPr>
              <a:t>VISIONGUARD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30D8B3-C675-465D-AA94-E0A4A114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981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The prototype demonstrates a complete local pipeline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4953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cf092788254d76"/>
          </a:graphicData>
        </a:graphic>
      </p:graphicFrame>
      <p:sp>
        <p:nvSpPr>
          <p:cNvPr id="4" name="result-head-0">
            <a:extLst xmlns:a="http://schemas.openxmlformats.org/drawingml/2006/main">
              <a:ext uri="{FF2B5EF4-FFF2-40B4-BE49-F238E27FC236}">
                <a16:creationId xmlns:a16="http://schemas.microsoft.com/office/drawing/2014/main" id="{9CA72B11-2206-4819-A765-D1941DD4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09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505"/>
                </a:solidFill>
              </a:defRPr>
            </a:pPr>
            <a:r>
              <a:rPr sz="1875" b="1">
                <a:solidFill>
                  <a:srgbClr val="050505"/>
                </a:solidFill>
              </a:rPr>
              <a:t>App views</a:t>
            </a:r>
          </a:p>
        </p:txBody>
      </p:sp>
      <p:sp>
        <p:nvSpPr>
          <p:cNvPr id="5" name="result-body-0">
            <a:extLst xmlns:a="http://schemas.openxmlformats.org/drawingml/2006/main">
              <a:ext uri="{FF2B5EF4-FFF2-40B4-BE49-F238E27FC236}">
                <a16:creationId xmlns:a16="http://schemas.microsoft.com/office/drawing/2014/main" id="{4D1FA4B5-9388-4C9E-BE14-5C79A1CB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43125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5866"/>
                </a:solidFill>
              </a:defRPr>
            </a:pPr>
            <a:r>
              <a:rPr sz="1425" b="0">
                <a:solidFill>
                  <a:srgbClr val="525866"/>
                </a:solidFill>
              </a:rPr>
              <a:t>Monitor, Gestures, Identity, Models, Settings</a:t>
            </a:r>
          </a:p>
        </p:txBody>
      </p:sp>
      <p:sp>
        <p:nvSpPr>
          <p:cNvPr id="6" name="result-head-1">
            <a:extLst xmlns:a="http://schemas.openxmlformats.org/drawingml/2006/main">
              <a:ext uri="{FF2B5EF4-FFF2-40B4-BE49-F238E27FC236}">
                <a16:creationId xmlns:a16="http://schemas.microsoft.com/office/drawing/2014/main" id="{B2A5E3B2-1B55-4674-ABD4-C543DCEA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765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505"/>
                </a:solidFill>
              </a:defRPr>
            </a:pPr>
            <a:r>
              <a:rPr sz="1875" b="1">
                <a:solidFill>
                  <a:srgbClr val="050505"/>
                </a:solidFill>
              </a:rPr>
              <a:t>Action types</a:t>
            </a:r>
          </a:p>
        </p:txBody>
      </p:sp>
      <p:sp>
        <p:nvSpPr>
          <p:cNvPr id="7" name="result-body-1">
            <a:extLst xmlns:a="http://schemas.openxmlformats.org/drawingml/2006/main">
              <a:ext uri="{FF2B5EF4-FFF2-40B4-BE49-F238E27FC236}">
                <a16:creationId xmlns:a16="http://schemas.microsoft.com/office/drawing/2014/main" id="{89A97716-6F8C-4DDC-B999-1C041162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09925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5866"/>
                </a:solidFill>
              </a:defRPr>
            </a:pPr>
            <a:r>
              <a:rPr sz="1425" b="0">
                <a:solidFill>
                  <a:srgbClr val="525866"/>
                </a:solidFill>
              </a:rPr>
              <a:t>Application, audio, keyboard, and mouse actions</a:t>
            </a:r>
          </a:p>
        </p:txBody>
      </p:sp>
      <p:sp>
        <p:nvSpPr>
          <p:cNvPr id="8" name="result-head-2">
            <a:extLst xmlns:a="http://schemas.openxmlformats.org/drawingml/2006/main">
              <a:ext uri="{FF2B5EF4-FFF2-40B4-BE49-F238E27FC236}">
                <a16:creationId xmlns:a16="http://schemas.microsoft.com/office/drawing/2014/main" id="{F0B3C794-997C-4DD0-8E60-0C86EF5A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433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505"/>
                </a:solidFill>
              </a:defRPr>
            </a:pPr>
            <a:r>
              <a:rPr sz="1875" b="1">
                <a:solidFill>
                  <a:srgbClr val="050505"/>
                </a:solidFill>
              </a:rPr>
              <a:t>Contract operations</a:t>
            </a:r>
          </a:p>
        </p:txBody>
      </p:sp>
      <p:sp>
        <p:nvSpPr>
          <p:cNvPr id="9" name="result-body-2">
            <a:extLst xmlns:a="http://schemas.openxmlformats.org/drawingml/2006/main">
              <a:ext uri="{FF2B5EF4-FFF2-40B4-BE49-F238E27FC236}">
                <a16:creationId xmlns:a16="http://schemas.microsoft.com/office/drawing/2014/main" id="{A34A529C-9C7C-4725-BE9A-8176EBC9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76725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5866"/>
                </a:solidFill>
              </a:defRPr>
            </a:pPr>
            <a:r>
              <a:rPr sz="1425" b="0">
                <a:solidFill>
                  <a:srgbClr val="525866"/>
                </a:solidFill>
              </a:rPr>
              <a:t>Dataset, training, model status, hand checks, inference</a:t>
            </a:r>
          </a:p>
        </p:txBody>
      </p:sp>
      <p:sp>
        <p:nvSpPr>
          <p:cNvPr id="10" name="footer-9">
            <a:extLst xmlns:a="http://schemas.openxmlformats.org/drawingml/2006/main">
              <a:ext uri="{FF2B5EF4-FFF2-40B4-BE49-F238E27FC236}">
                <a16:creationId xmlns:a16="http://schemas.microsoft.com/office/drawing/2014/main" id="{0DC6E995-25D5-473C-B3A6-EA83532A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6"/>
                </a:solidFill>
              </a:defRPr>
            </a:pPr>
            <a:r>
              <a:rPr sz="1050" b="0">
                <a:solidFill>
                  <a:srgbClr val="525866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648782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54AC152A-77FD-4665-9E66-F204A51A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7C95"/>
                </a:solidFill>
              </a:defRPr>
            </a:pPr>
            <a:r>
              <a:rPr sz="1275" b="1">
                <a:solidFill>
                  <a:srgbClr val="127C95"/>
                </a:solidFill>
              </a:rPr>
              <a:t>VISIONGUARD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89C18E-BFBF-4FB2-BAFA-9F7CFB02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981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50505"/>
                </a:solidFill>
              </a:defRPr>
            </a:pPr>
            <a:r>
              <a:rPr sz="3150" b="1">
                <a:solidFill>
                  <a:srgbClr val="050505"/>
                </a:solidFill>
              </a:rPr>
              <a:t>Next work should harden identity, models, and evaluation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fca0912e2f4ddc"/>
          <a:srcRect xmlns:a="http://schemas.openxmlformats.org/drawingml/2006/main" l="12963" t="0" r="129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72300" y="1504950"/>
            <a:ext cx="4267200" cy="4000500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  <p:sp>
        <p:nvSpPr>
          <p:cNvPr id="4" name="future-head-0">
            <a:extLst xmlns:a="http://schemas.openxmlformats.org/drawingml/2006/main">
              <a:ext uri="{FF2B5EF4-FFF2-40B4-BE49-F238E27FC236}">
                <a16:creationId xmlns:a16="http://schemas.microsoft.com/office/drawing/2014/main" id="{783F319A-0EE0-4097-9BAE-E0A5D89E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Continuous authentication</a:t>
            </a:r>
          </a:p>
        </p:txBody>
      </p:sp>
      <p:sp>
        <p:nvSpPr>
          <p:cNvPr id="5" name="future-body-0">
            <a:extLst xmlns:a="http://schemas.openxmlformats.org/drawingml/2006/main">
              <a:ext uri="{FF2B5EF4-FFF2-40B4-BE49-F238E27FC236}">
                <a16:creationId xmlns:a16="http://schemas.microsoft.com/office/drawing/2014/main" id="{08979C09-38D6-45F3-8F33-1C5A89C1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5866"/>
                </a:solidFill>
              </a:defRPr>
            </a:pPr>
            <a:r>
              <a:rPr sz="1275" b="0">
                <a:solidFill>
                  <a:srgbClr val="525866"/>
                </a:solidFill>
              </a:rPr>
              <a:t>Add identity-specific signals beyond gesture recognition.</a:t>
            </a:r>
          </a:p>
        </p:txBody>
      </p:sp>
      <p:sp>
        <p:nvSpPr>
          <p:cNvPr id="6" name="future-head-1">
            <a:extLst xmlns:a="http://schemas.openxmlformats.org/drawingml/2006/main">
              <a:ext uri="{FF2B5EF4-FFF2-40B4-BE49-F238E27FC236}">
                <a16:creationId xmlns:a16="http://schemas.microsoft.com/office/drawing/2014/main" id="{B13021CD-4B18-4B6B-B0EE-AC2CE172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Temporal gesture model</a:t>
            </a:r>
          </a:p>
        </p:txBody>
      </p:sp>
      <p:sp>
        <p:nvSpPr>
          <p:cNvPr id="7" name="future-body-1">
            <a:extLst xmlns:a="http://schemas.openxmlformats.org/drawingml/2006/main">
              <a:ext uri="{FF2B5EF4-FFF2-40B4-BE49-F238E27FC236}">
                <a16:creationId xmlns:a16="http://schemas.microsoft.com/office/drawing/2014/main" id="{D4C8C571-653D-41F1-8421-CAE65E37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5866"/>
                </a:solidFill>
              </a:defRPr>
            </a:pPr>
            <a:r>
              <a:rPr sz="1275" b="0">
                <a:solidFill>
                  <a:srgbClr val="525866"/>
                </a:solidFill>
              </a:rPr>
              <a:t>Use frame sequences for dynamic movements like swipes.</a:t>
            </a:r>
          </a:p>
        </p:txBody>
      </p:sp>
      <p:sp>
        <p:nvSpPr>
          <p:cNvPr id="8" name="future-head-2">
            <a:extLst xmlns:a="http://schemas.openxmlformats.org/drawingml/2006/main">
              <a:ext uri="{FF2B5EF4-FFF2-40B4-BE49-F238E27FC236}">
                <a16:creationId xmlns:a16="http://schemas.microsoft.com/office/drawing/2014/main" id="{FDC3D554-B183-4686-A45E-FBA38EC2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Cross-platform actions</a:t>
            </a:r>
          </a:p>
        </p:txBody>
      </p:sp>
      <p:sp>
        <p:nvSpPr>
          <p:cNvPr id="9" name="future-body-2">
            <a:extLst xmlns:a="http://schemas.openxmlformats.org/drawingml/2006/main">
              <a:ext uri="{FF2B5EF4-FFF2-40B4-BE49-F238E27FC236}">
                <a16:creationId xmlns:a16="http://schemas.microsoft.com/office/drawing/2014/main" id="{41BA3EAF-A798-41CA-849E-DF9ACCE3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5866"/>
                </a:solidFill>
              </a:defRPr>
            </a:pPr>
            <a:r>
              <a:rPr sz="1275" b="0">
                <a:solidFill>
                  <a:srgbClr val="525866"/>
                </a:solidFill>
              </a:rPr>
              <a:t>Add Windows and Linux adapters instead of macOS-only commands.</a:t>
            </a:r>
          </a:p>
        </p:txBody>
      </p:sp>
      <p:sp>
        <p:nvSpPr>
          <p:cNvPr id="10" name="future-head-3">
            <a:extLst xmlns:a="http://schemas.openxmlformats.org/drawingml/2006/main">
              <a:ext uri="{FF2B5EF4-FFF2-40B4-BE49-F238E27FC236}">
                <a16:creationId xmlns:a16="http://schemas.microsoft.com/office/drawing/2014/main" id="{96F0D4F3-233E-4F89-A9B7-BA0E18C9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Formal evaluation</a:t>
            </a:r>
          </a:p>
        </p:txBody>
      </p:sp>
      <p:sp>
        <p:nvSpPr>
          <p:cNvPr id="11" name="future-body-3">
            <a:extLst xmlns:a="http://schemas.openxmlformats.org/drawingml/2006/main">
              <a:ext uri="{FF2B5EF4-FFF2-40B4-BE49-F238E27FC236}">
                <a16:creationId xmlns:a16="http://schemas.microsoft.com/office/drawing/2014/main" id="{B51A9454-A702-4F27-A2FE-61EC9F7A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5866"/>
                </a:solidFill>
              </a:defRPr>
            </a:pPr>
            <a:r>
              <a:rPr sz="1275" b="0">
                <a:solidFill>
                  <a:srgbClr val="525866"/>
                </a:solidFill>
              </a:rPr>
              <a:t>Measure accuracy, false activations, latency, and usability.</a:t>
            </a:r>
          </a:p>
        </p:txBody>
      </p:sp>
      <p:sp>
        <p:nvSpPr>
          <p:cNvPr id="12" name="footer-10">
            <a:extLst xmlns:a="http://schemas.openxmlformats.org/drawingml/2006/main">
              <a:ext uri="{FF2B5EF4-FFF2-40B4-BE49-F238E27FC236}">
                <a16:creationId xmlns:a16="http://schemas.microsoft.com/office/drawing/2014/main" id="{0646AAFD-8DDC-407D-8AE0-69D4D19E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6"/>
                </a:solidFill>
              </a:defRPr>
            </a:pPr>
            <a:r>
              <a:rPr sz="1050" b="0">
                <a:solidFill>
                  <a:srgbClr val="525866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713917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2026-08-30T11:01:52.6650000Z</dcterms:created>
  <dcterms:modified xsi:type="dcterms:W3CDTF">2026-08-30T11:01:52.6650000Z</dcterms:modified>
</coreProperties>
</file>